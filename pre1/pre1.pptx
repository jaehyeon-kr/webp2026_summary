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11"/>
  </p:notesMasterIdLst>
  <p:handoutMasterIdLst>
    <p:handoutMasterId r:id="rId12"/>
  </p:handoutMasterIdLst>
  <p:sldIdLst>
    <p:sldId id="261" r:id="rId3"/>
    <p:sldId id="423" r:id="rId4"/>
    <p:sldId id="276" r:id="rId5"/>
    <p:sldId id="277" r:id="rId6"/>
    <p:sldId id="280" r:id="rId7"/>
    <p:sldId id="283" r:id="rId8"/>
    <p:sldId id="282" r:id="rId9"/>
    <p:sldId id="284" r:id="rId10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만든 이 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7F254"/>
    <a:srgbClr val="47CFFF"/>
    <a:srgbClr val="C39BE1"/>
    <a:srgbClr val="960C16"/>
    <a:srgbClr val="0211A0"/>
    <a:srgbClr val="FA6E6E"/>
    <a:srgbClr val="E69434"/>
    <a:srgbClr val="F474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49" autoAdjust="0"/>
    <p:restoredTop sz="88706" autoAdjust="0"/>
  </p:normalViewPr>
  <p:slideViewPr>
    <p:cSldViewPr snapToGrid="0">
      <p:cViewPr varScale="1">
        <p:scale>
          <a:sx n="83" d="100"/>
          <a:sy n="83" d="100"/>
        </p:scale>
        <p:origin x="444" y="7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358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31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slideMaster" Target="slideMasters/slideMaster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5690" tIns="47845" rIns="95690" bIns="4784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5690" tIns="47845" rIns="95690" bIns="47845" rtlCol="0"/>
          <a:lstStyle>
            <a:lvl1pPr algn="r">
              <a:defRPr sz="1300"/>
            </a:lvl1pPr>
          </a:lstStyle>
          <a:p>
            <a:fld id="{59041DB8-B66F-4DC8-A96E-33677E0F90F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5690" tIns="47845" rIns="95690" bIns="4784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5690" tIns="47845" rIns="95690" bIns="47845" rtlCol="0" anchor="b"/>
          <a:lstStyle>
            <a:lvl1pPr algn="r">
              <a:defRPr sz="13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5690" tIns="47845" rIns="95690" bIns="4784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5690" tIns="47845" rIns="95690" bIns="47845" rtlCol="0"/>
          <a:lstStyle>
            <a:lvl1pPr algn="r">
              <a:defRPr sz="1300"/>
            </a:lvl1pPr>
          </a:lstStyle>
          <a:p>
            <a:fld id="{DEB49C4A-65AC-492D-9701-81B46C3AD0E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690" tIns="47845" rIns="95690" bIns="4784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83306"/>
            <a:ext cx="5445760" cy="3354527"/>
          </a:xfrm>
          <a:prstGeom prst="rect">
            <a:avLst/>
          </a:prstGeom>
        </p:spPr>
        <p:txBody>
          <a:bodyPr vert="horz" lIns="95690" tIns="47845" rIns="95690" bIns="47845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5690" tIns="47845" rIns="95690" bIns="4784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5690" tIns="47845" rIns="95690" bIns="47845" rtlCol="0" anchor="b"/>
          <a:lstStyle>
            <a:lvl1pPr algn="r">
              <a:defRPr sz="13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686180" y="24218"/>
            <a:ext cx="12192003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0194" y="1269812"/>
            <a:ext cx="10972012" cy="3383280"/>
          </a:xfrm>
        </p:spPr>
        <p:txBody>
          <a:bodyPr anchor="ctr">
            <a:normAutofit/>
          </a:bodyPr>
          <a:lstStyle>
            <a:lvl1pPr algn="l">
              <a:lnSpc>
                <a:spcPct val="76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9822" y="5061089"/>
            <a:ext cx="5489885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Click to edit Master subtitle style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-75728" y="6572172"/>
            <a:ext cx="580025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Interaction Lab.</a:t>
            </a:r>
          </a:p>
        </p:txBody>
      </p:sp>
      <p:cxnSp>
        <p:nvCxnSpPr>
          <p:cNvPr id="59" name="Straight Connector 58"/>
          <p:cNvCxnSpPr>
            <a:cxnSpLocks/>
          </p:cNvCxnSpPr>
          <p:nvPr userDrawn="1"/>
        </p:nvCxnSpPr>
        <p:spPr>
          <a:xfrm>
            <a:off x="9687819" y="4964468"/>
            <a:ext cx="1223039" cy="6634"/>
          </a:xfrm>
          <a:prstGeom prst="line">
            <a:avLst/>
          </a:prstGeom>
          <a:ln w="635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 userDrawn="1"/>
        </p:nvSpPr>
        <p:spPr>
          <a:xfrm>
            <a:off x="7528058" y="6567506"/>
            <a:ext cx="473707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</a:rPr>
              <a:t>Seoul National University of Science and Technology</a:t>
            </a:r>
          </a:p>
        </p:txBody>
      </p:sp>
      <p:pic>
        <p:nvPicPr>
          <p:cNvPr id="1026" name="Picture 2" descr="서울과학기술대학교 로고">
            <a:extLst>
              <a:ext uri="{FF2B5EF4-FFF2-40B4-BE49-F238E27FC236}">
                <a16:creationId xmlns:a16="http://schemas.microsoft.com/office/drawing/2014/main" id="{74C2DAE3-3DE3-4068-80F9-51F987532B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4942" y="4397"/>
            <a:ext cx="2774196" cy="61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Straight Connector 58">
            <a:extLst>
              <a:ext uri="{FF2B5EF4-FFF2-40B4-BE49-F238E27FC236}">
                <a16:creationId xmlns:a16="http://schemas.microsoft.com/office/drawing/2014/main" id="{D1841837-60C8-4CAD-AA2C-8F98832A3F49}"/>
              </a:ext>
            </a:extLst>
          </p:cNvPr>
          <p:cNvCxnSpPr>
            <a:cxnSpLocks/>
          </p:cNvCxnSpPr>
          <p:nvPr userDrawn="1"/>
        </p:nvCxnSpPr>
        <p:spPr>
          <a:xfrm>
            <a:off x="8464779" y="4960100"/>
            <a:ext cx="1223039" cy="6634"/>
          </a:xfrm>
          <a:prstGeom prst="line">
            <a:avLst/>
          </a:prstGeom>
          <a:ln w="63500" cmpd="tri">
            <a:solidFill>
              <a:srgbClr val="960C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58">
            <a:extLst>
              <a:ext uri="{FF2B5EF4-FFF2-40B4-BE49-F238E27FC236}">
                <a16:creationId xmlns:a16="http://schemas.microsoft.com/office/drawing/2014/main" id="{DCA3FC18-41D5-4E29-9808-35E62EC5ED11}"/>
              </a:ext>
            </a:extLst>
          </p:cNvPr>
          <p:cNvCxnSpPr>
            <a:cxnSpLocks/>
          </p:cNvCxnSpPr>
          <p:nvPr userDrawn="1"/>
        </p:nvCxnSpPr>
        <p:spPr>
          <a:xfrm>
            <a:off x="7241741" y="4953936"/>
            <a:ext cx="1223039" cy="6634"/>
          </a:xfrm>
          <a:prstGeom prst="line">
            <a:avLst/>
          </a:prstGeom>
          <a:ln w="63500" cmpd="tri">
            <a:solidFill>
              <a:srgbClr val="0211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58">
            <a:extLst>
              <a:ext uri="{FF2B5EF4-FFF2-40B4-BE49-F238E27FC236}">
                <a16:creationId xmlns:a16="http://schemas.microsoft.com/office/drawing/2014/main" id="{DD88A32C-EC5C-4C7D-AB0E-BE2BA36C36CA}"/>
              </a:ext>
            </a:extLst>
          </p:cNvPr>
          <p:cNvCxnSpPr>
            <a:cxnSpLocks/>
          </p:cNvCxnSpPr>
          <p:nvPr userDrawn="1"/>
        </p:nvCxnSpPr>
        <p:spPr>
          <a:xfrm>
            <a:off x="7844374" y="5602766"/>
            <a:ext cx="1223039" cy="6634"/>
          </a:xfrm>
          <a:prstGeom prst="line">
            <a:avLst/>
          </a:prstGeom>
          <a:ln w="635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58">
            <a:extLst>
              <a:ext uri="{FF2B5EF4-FFF2-40B4-BE49-F238E27FC236}">
                <a16:creationId xmlns:a16="http://schemas.microsoft.com/office/drawing/2014/main" id="{88EF6287-0C9B-4CFA-87CA-436C952B1C03}"/>
              </a:ext>
            </a:extLst>
          </p:cNvPr>
          <p:cNvCxnSpPr>
            <a:cxnSpLocks/>
          </p:cNvCxnSpPr>
          <p:nvPr userDrawn="1"/>
        </p:nvCxnSpPr>
        <p:spPr>
          <a:xfrm>
            <a:off x="6621334" y="5596811"/>
            <a:ext cx="1223039" cy="6634"/>
          </a:xfrm>
          <a:prstGeom prst="line">
            <a:avLst/>
          </a:prstGeom>
          <a:ln w="63500" cmpd="tri">
            <a:solidFill>
              <a:srgbClr val="960C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58">
            <a:extLst>
              <a:ext uri="{FF2B5EF4-FFF2-40B4-BE49-F238E27FC236}">
                <a16:creationId xmlns:a16="http://schemas.microsoft.com/office/drawing/2014/main" id="{734EA8C1-8186-417D-88B4-4FFDF0B00D31}"/>
              </a:ext>
            </a:extLst>
          </p:cNvPr>
          <p:cNvCxnSpPr>
            <a:cxnSpLocks/>
          </p:cNvCxnSpPr>
          <p:nvPr userDrawn="1"/>
        </p:nvCxnSpPr>
        <p:spPr>
          <a:xfrm>
            <a:off x="5398295" y="5590647"/>
            <a:ext cx="1223039" cy="6634"/>
          </a:xfrm>
          <a:prstGeom prst="line">
            <a:avLst/>
          </a:prstGeom>
          <a:ln w="63500" cmpd="tri">
            <a:solidFill>
              <a:srgbClr val="0211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59329"/>
            <a:ext cx="10974592" cy="5327196"/>
          </a:xfrm>
        </p:spPr>
        <p:txBody>
          <a:bodyPr>
            <a:normAutofit/>
          </a:bodyPr>
          <a:lstStyle>
            <a:lvl1pPr marL="228600" indent="-228600">
              <a:buClr>
                <a:srgbClr val="FA6E6E"/>
              </a:buClr>
              <a:buFont typeface="Arial" panose="020B0604020202020204" pitchFamily="34" charset="0"/>
              <a:buChar char="■"/>
              <a:defRPr sz="2400"/>
            </a:lvl1pPr>
            <a:lvl2pPr marL="538163" indent="-263525">
              <a:lnSpc>
                <a:spcPct val="100000"/>
              </a:lnSpc>
              <a:buClr>
                <a:srgbClr val="FA6E6E"/>
              </a:buClr>
              <a:buFont typeface="Wingdings" panose="05000000000000000000" pitchFamily="2" charset="2"/>
              <a:buChar char="Ø"/>
              <a:defRPr sz="2000"/>
            </a:lvl2pPr>
            <a:lvl3pPr marL="685800" indent="-179388">
              <a:lnSpc>
                <a:spcPct val="100000"/>
              </a:lnSpc>
              <a:buClr>
                <a:srgbClr val="FA6E6E"/>
              </a:buClr>
              <a:buFont typeface="Arial" panose="020B0604020202020204" pitchFamily="34" charset="0"/>
              <a:buChar char="•"/>
              <a:defRPr sz="1800"/>
            </a:lvl3pPr>
            <a:lvl4pPr marL="914400" indent="-182880">
              <a:lnSpc>
                <a:spcPct val="100000"/>
              </a:lnSpc>
              <a:buClr>
                <a:srgbClr val="FA6E6E"/>
              </a:buClr>
              <a:buFont typeface="Arial" panose="020B0604020202020204" pitchFamily="34" charset="0"/>
              <a:buChar char="■"/>
              <a:defRPr sz="1600"/>
            </a:lvl4pPr>
            <a:lvl5pPr marL="1143000" indent="-179388">
              <a:buClr>
                <a:srgbClr val="FA6E6E"/>
              </a:buClr>
              <a:buFont typeface="Arial" panose="020B0604020202020204" pitchFamily="34" charset="0"/>
              <a:buChar char="■"/>
              <a:defRPr sz="1600"/>
            </a:lvl5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609601" y="3603"/>
            <a:ext cx="10974592" cy="961737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>
          <a:xfrm>
            <a:off x="11273117" y="6654417"/>
            <a:ext cx="918883" cy="222436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0" y="6593821"/>
            <a:ext cx="12192000" cy="3314"/>
          </a:xfrm>
          <a:prstGeom prst="line">
            <a:avLst/>
          </a:prstGeom>
          <a:ln w="63500" cmpd="tri">
            <a:gradFill flip="none" rotWithShape="1">
              <a:gsLst>
                <a:gs pos="14000">
                  <a:schemeClr val="accent1">
                    <a:lumMod val="5000"/>
                    <a:lumOff val="95000"/>
                  </a:schemeClr>
                </a:gs>
                <a:gs pos="72000">
                  <a:schemeClr val="accent1">
                    <a:lumMod val="45000"/>
                    <a:lumOff val="55000"/>
                  </a:schemeClr>
                </a:gs>
                <a:gs pos="86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8">
            <a:extLst>
              <a:ext uri="{FF2B5EF4-FFF2-40B4-BE49-F238E27FC236}">
                <a16:creationId xmlns:a16="http://schemas.microsoft.com/office/drawing/2014/main" id="{C404ACA3-99F8-4DE1-BF6A-C1BAE32ADC6F}"/>
              </a:ext>
            </a:extLst>
          </p:cNvPr>
          <p:cNvCxnSpPr>
            <a:cxnSpLocks/>
          </p:cNvCxnSpPr>
          <p:nvPr userDrawn="1"/>
        </p:nvCxnSpPr>
        <p:spPr>
          <a:xfrm>
            <a:off x="8117516" y="1047499"/>
            <a:ext cx="4080000" cy="6634"/>
          </a:xfrm>
          <a:prstGeom prst="line">
            <a:avLst/>
          </a:prstGeom>
          <a:ln w="635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8">
            <a:extLst>
              <a:ext uri="{FF2B5EF4-FFF2-40B4-BE49-F238E27FC236}">
                <a16:creationId xmlns:a16="http://schemas.microsoft.com/office/drawing/2014/main" id="{20B13FD4-5468-487B-A2ED-5EEAB4D770CE}"/>
              </a:ext>
            </a:extLst>
          </p:cNvPr>
          <p:cNvCxnSpPr>
            <a:cxnSpLocks/>
          </p:cNvCxnSpPr>
          <p:nvPr userDrawn="1"/>
        </p:nvCxnSpPr>
        <p:spPr>
          <a:xfrm>
            <a:off x="4034380" y="1043541"/>
            <a:ext cx="4080000" cy="6634"/>
          </a:xfrm>
          <a:prstGeom prst="line">
            <a:avLst/>
          </a:prstGeom>
          <a:ln w="63500" cmpd="tri">
            <a:solidFill>
              <a:srgbClr val="960C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58">
            <a:extLst>
              <a:ext uri="{FF2B5EF4-FFF2-40B4-BE49-F238E27FC236}">
                <a16:creationId xmlns:a16="http://schemas.microsoft.com/office/drawing/2014/main" id="{C01815BC-6AD3-4DF7-93D8-79220C64C17F}"/>
              </a:ext>
            </a:extLst>
          </p:cNvPr>
          <p:cNvCxnSpPr>
            <a:cxnSpLocks/>
          </p:cNvCxnSpPr>
          <p:nvPr userDrawn="1"/>
        </p:nvCxnSpPr>
        <p:spPr>
          <a:xfrm>
            <a:off x="-1" y="1037591"/>
            <a:ext cx="4032000" cy="6634"/>
          </a:xfrm>
          <a:prstGeom prst="line">
            <a:avLst/>
          </a:prstGeom>
          <a:ln w="63500" cmpd="tri">
            <a:solidFill>
              <a:srgbClr val="0211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3">
            <a:extLst>
              <a:ext uri="{FF2B5EF4-FFF2-40B4-BE49-F238E27FC236}">
                <a16:creationId xmlns:a16="http://schemas.microsoft.com/office/drawing/2014/main" id="{A9DF8264-D112-4666-A363-B02ABAD1F337}"/>
              </a:ext>
            </a:extLst>
          </p:cNvPr>
          <p:cNvSpPr/>
          <p:nvPr userDrawn="1"/>
        </p:nvSpPr>
        <p:spPr>
          <a:xfrm>
            <a:off x="-75728" y="6598050"/>
            <a:ext cx="628674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Interaction Lab., Seoul National University of Science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201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201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5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5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4/22/2026</a:t>
            </a:fld>
            <a:endParaRPr lang="en-US"/>
          </a:p>
        </p:txBody>
      </p: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90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F629-ECA2-4CF3-B790-9D9BDED98269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90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8"/>
            <a:ext cx="1687287" cy="5301343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8"/>
            <a:ext cx="7587344" cy="5301343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5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2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1" y="6289679"/>
            <a:ext cx="965947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2" y="6289679"/>
            <a:ext cx="6128031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Data Engineering Lab., </a:t>
            </a:r>
            <a:r>
              <a:rPr lang="en-US" dirty="0" err="1"/>
              <a:t>Kumoh</a:t>
            </a:r>
            <a:r>
              <a:rPr lang="en-US" dirty="0"/>
              <a:t> National </a:t>
            </a:r>
            <a:r>
              <a:rPr lang="en-US" dirty="0" err="1"/>
              <a:t>Institue</a:t>
            </a:r>
            <a:r>
              <a:rPr lang="en-US" dirty="0"/>
              <a:t>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3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1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1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79388" algn="l" defTabSz="914400" rtl="0" eaLnBrk="1" latinLnBrk="1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269812"/>
            <a:ext cx="9143999" cy="3383280"/>
          </a:xfrm>
        </p:spPr>
        <p:txBody>
          <a:bodyPr/>
          <a:lstStyle/>
          <a:p>
            <a:pPr algn="ctr"/>
            <a:r>
              <a:rPr lang="en-US" altLang="ko-KR" dirty="0"/>
              <a:t>Web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손풀기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EC71E46-2F31-F832-5B3D-B582C138B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제한시간</a:t>
            </a:r>
            <a:r>
              <a:rPr lang="en-US" altLang="ko-KR" dirty="0"/>
              <a:t>: 25</a:t>
            </a:r>
            <a:r>
              <a:rPr lang="ko-KR" altLang="en-US" dirty="0"/>
              <a:t>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첨부된 압축파일 압축해제</a:t>
            </a:r>
            <a:endParaRPr lang="en-US" altLang="ko-KR" dirty="0"/>
          </a:p>
          <a:p>
            <a:pPr lvl="1"/>
            <a:r>
              <a:rPr lang="en-US" altLang="ko-KR" dirty="0"/>
              <a:t>0~3.html (</a:t>
            </a:r>
            <a:r>
              <a:rPr lang="ko-KR" altLang="en-US" dirty="0"/>
              <a:t>각 문제별 </a:t>
            </a:r>
            <a:r>
              <a:rPr lang="en-US" altLang="ko-KR" dirty="0"/>
              <a:t>html</a:t>
            </a:r>
            <a:r>
              <a:rPr lang="ko-KR" altLang="en-US" dirty="0"/>
              <a:t>파일</a:t>
            </a:r>
            <a:r>
              <a:rPr lang="en-US" altLang="ko-KR" dirty="0"/>
              <a:t>)</a:t>
            </a:r>
            <a:r>
              <a:rPr lang="en-US" altLang="ko-KR" dirty="0">
                <a:highlight>
                  <a:srgbClr val="FFFF00"/>
                </a:highlight>
              </a:rPr>
              <a:t>+ images/* (</a:t>
            </a:r>
            <a:r>
              <a:rPr lang="en-US" altLang="ko-KR" i="1" dirty="0">
                <a:highlight>
                  <a:srgbClr val="FFFF00"/>
                </a:highlight>
              </a:rPr>
              <a:t>N</a:t>
            </a:r>
            <a:r>
              <a:rPr lang="ko-KR" altLang="en-US" dirty="0">
                <a:highlight>
                  <a:srgbClr val="FFFF00"/>
                </a:highlight>
              </a:rPr>
              <a:t>번문제를 위한 이미지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</a:p>
          <a:p>
            <a:pPr lvl="1"/>
            <a:r>
              <a:rPr lang="ko-KR" altLang="en-US" dirty="0"/>
              <a:t>본인 </a:t>
            </a:r>
            <a:r>
              <a:rPr lang="ko-KR" altLang="en-US" dirty="0" err="1"/>
              <a:t>작업폴더에</a:t>
            </a:r>
            <a:r>
              <a:rPr lang="ko-KR" altLang="en-US" dirty="0"/>
              <a:t> 위 </a:t>
            </a:r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en-US" altLang="ko-KR" dirty="0"/>
              <a:t>html </a:t>
            </a:r>
            <a:r>
              <a:rPr lang="ko-KR" altLang="en-US" dirty="0"/>
              <a:t>파일과 이미지 폴더 복사 후 시험 진행</a:t>
            </a:r>
            <a:endParaRPr lang="en-US" altLang="ko-KR" dirty="0"/>
          </a:p>
          <a:p>
            <a:pPr lvl="2"/>
            <a:r>
              <a:rPr lang="ko-KR" altLang="en-US" dirty="0"/>
              <a:t>또는 </a:t>
            </a:r>
            <a:r>
              <a:rPr lang="en-US" altLang="ko-KR" dirty="0"/>
              <a:t>pre1 </a:t>
            </a:r>
            <a:r>
              <a:rPr lang="ko-KR" altLang="en-US" dirty="0"/>
              <a:t>폴더를 바탕으로 진행해도 무방함</a:t>
            </a:r>
            <a:endParaRPr lang="en-US" altLang="ko-KR" dirty="0"/>
          </a:p>
          <a:p>
            <a:pPr lvl="1"/>
            <a:r>
              <a:rPr lang="ko-KR" altLang="en-US" dirty="0"/>
              <a:t>문제의 모든</a:t>
            </a:r>
            <a:r>
              <a:rPr lang="en-US" altLang="ko-KR" dirty="0"/>
              <a:t> </a:t>
            </a:r>
            <a:r>
              <a:rPr lang="ko-KR" altLang="en-US" dirty="0"/>
              <a:t>예제는 </a:t>
            </a:r>
            <a:r>
              <a:rPr lang="en-US" altLang="ko-KR" dirty="0" err="1"/>
              <a:t>LiveServer</a:t>
            </a:r>
            <a:r>
              <a:rPr lang="en-US" altLang="ko-KR" dirty="0"/>
              <a:t> (Chrome)</a:t>
            </a:r>
            <a:r>
              <a:rPr lang="ko-KR" altLang="en-US" dirty="0"/>
              <a:t>에서 실행된 예제임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제출 시 </a:t>
            </a:r>
            <a:r>
              <a:rPr lang="ko-KR" altLang="en-US" dirty="0" err="1"/>
              <a:t>작업폴더를</a:t>
            </a:r>
            <a:r>
              <a:rPr lang="ko-KR" altLang="en-US" dirty="0"/>
              <a:t> 통째로 압축</a:t>
            </a:r>
            <a:r>
              <a:rPr lang="en-US" altLang="ko-KR" dirty="0"/>
              <a:t>(zip)</a:t>
            </a:r>
            <a:r>
              <a:rPr lang="ko-KR" altLang="en-US" dirty="0"/>
              <a:t>하여 </a:t>
            </a:r>
            <a:r>
              <a:rPr lang="en-US" altLang="ko-KR" dirty="0" err="1"/>
              <a:t>eClass</a:t>
            </a:r>
            <a:r>
              <a:rPr lang="ko-KR" altLang="en-US" dirty="0"/>
              <a:t>에 제출</a:t>
            </a:r>
            <a:endParaRPr lang="en-US" altLang="ko-KR" dirty="0"/>
          </a:p>
          <a:p>
            <a:pPr lvl="1"/>
            <a:r>
              <a:rPr lang="ko-KR" altLang="en-US" dirty="0"/>
              <a:t>제출</a:t>
            </a:r>
            <a:r>
              <a:rPr lang="en-US" altLang="ko-KR" dirty="0"/>
              <a:t>: </a:t>
            </a:r>
            <a:r>
              <a:rPr lang="en-US" altLang="ko-KR" dirty="0" err="1"/>
              <a:t>eClass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과제 </a:t>
            </a:r>
            <a:r>
              <a:rPr lang="en-US" altLang="ko-KR" dirty="0">
                <a:sym typeface="Wingdings" panose="05000000000000000000" pitchFamily="2" charset="2"/>
              </a:rPr>
              <a:t> 8</a:t>
            </a:r>
            <a:r>
              <a:rPr lang="ko-KR" altLang="en-US" dirty="0">
                <a:sym typeface="Wingdings" panose="05000000000000000000" pitchFamily="2" charset="2"/>
              </a:rPr>
              <a:t>주 </a:t>
            </a:r>
            <a:r>
              <a:rPr lang="ko-KR" altLang="en-US" dirty="0" err="1">
                <a:sym typeface="Wingdings" panose="05000000000000000000" pitchFamily="2" charset="2"/>
              </a:rPr>
              <a:t>손풀기</a:t>
            </a:r>
            <a:r>
              <a:rPr lang="en-US" altLang="ko-KR" dirty="0">
                <a:sym typeface="Wingdings" panose="05000000000000000000" pitchFamily="2" charset="2"/>
              </a:rPr>
              <a:t>-1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b="1" dirty="0">
                <a:solidFill>
                  <a:srgbClr val="C0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미완성 코드에도 부분 점수 부여함</a:t>
            </a:r>
            <a:endParaRPr lang="en-US" altLang="ko-KR" b="1" dirty="0">
              <a:solidFill>
                <a:srgbClr val="C00000"/>
              </a:solidFill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75CCA53-3901-BDBD-4118-1FC1DAC90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AC9E3-E4CF-6041-1326-7396011AE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03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E8BF894-ACB2-1793-8723-1841DC93C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아래 그림과 동일한 화면을 구성하기 위한 웹페이지를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0.html </a:t>
            </a:r>
            <a:r>
              <a:rPr lang="ko-KR" altLang="en-US" dirty="0"/>
              <a:t>파일에 전체 </a:t>
            </a:r>
            <a:r>
              <a:rPr lang="en-US" altLang="ko-KR" dirty="0"/>
              <a:t>html </a:t>
            </a:r>
            <a:r>
              <a:rPr lang="ko-KR" altLang="en-US" dirty="0"/>
              <a:t>코드를 작성할 것</a:t>
            </a:r>
            <a:endParaRPr lang="en-US" altLang="ko-KR" dirty="0"/>
          </a:p>
          <a:p>
            <a:pPr lvl="1"/>
            <a:r>
              <a:rPr lang="ko-KR" altLang="en-US" dirty="0"/>
              <a:t>모든 여백</a:t>
            </a:r>
            <a:r>
              <a:rPr lang="en-US" altLang="ko-KR" dirty="0"/>
              <a:t>(margin/padding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은 기본 설정을 사용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3AFC57F-39BD-F5CC-3BE6-E26BAC27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#0 (10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0AC6DF-2662-F4C0-6606-57447489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5476CBC-6C3E-FE66-00FD-CAB826608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682" y="2835237"/>
            <a:ext cx="6000010" cy="365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1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07F75F6-3D8B-EAF8-3B70-A750E8D4C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아래 그림과 동일한 화면을 구성하기 위한 웹페이지를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1.html </a:t>
            </a:r>
            <a:r>
              <a:rPr lang="ko-KR" altLang="en-US" dirty="0"/>
              <a:t>파일에</a:t>
            </a:r>
            <a:r>
              <a:rPr lang="en-US" altLang="ko-KR" dirty="0"/>
              <a:t> </a:t>
            </a:r>
            <a:r>
              <a:rPr lang="ko-KR" altLang="en-US" dirty="0"/>
              <a:t>코드를 작성할 것</a:t>
            </a:r>
            <a:endParaRPr lang="en-US" altLang="ko-KR" dirty="0"/>
          </a:p>
          <a:p>
            <a:pPr lvl="1"/>
            <a:r>
              <a:rPr lang="ko-KR" altLang="en-US" dirty="0"/>
              <a:t>스타일 시트 추가 시 </a:t>
            </a:r>
            <a:r>
              <a:rPr lang="ko-KR" altLang="en-US" b="1" u="sng" dirty="0">
                <a:solidFill>
                  <a:srgbClr val="C00000"/>
                </a:solidFill>
              </a:rPr>
              <a:t>인라인 스타일시트만 사용 가능</a:t>
            </a:r>
            <a:endParaRPr lang="en-US" altLang="ko-KR" b="1" u="sng" dirty="0">
              <a:solidFill>
                <a:srgbClr val="C00000"/>
              </a:solidFill>
            </a:endParaRPr>
          </a:p>
          <a:p>
            <a:pPr lvl="2"/>
            <a:r>
              <a:rPr lang="ko-KR" altLang="en-US" dirty="0"/>
              <a:t>즉</a:t>
            </a:r>
            <a:r>
              <a:rPr lang="en-US" altLang="ko-KR" dirty="0"/>
              <a:t>, &lt;style&gt; </a:t>
            </a:r>
            <a:r>
              <a:rPr lang="ko-KR" altLang="en-US" dirty="0"/>
              <a:t>태그 안에 새로운 스타일 추가</a:t>
            </a:r>
            <a:r>
              <a:rPr lang="en-US" altLang="ko-KR" dirty="0"/>
              <a:t>, </a:t>
            </a:r>
            <a:r>
              <a:rPr lang="ko-KR" altLang="en-US" dirty="0"/>
              <a:t>기존 스타일 삭제</a:t>
            </a:r>
            <a:r>
              <a:rPr lang="en-US" altLang="ko-KR" dirty="0"/>
              <a:t>/</a:t>
            </a:r>
            <a:r>
              <a:rPr lang="ko-KR" altLang="en-US" dirty="0"/>
              <a:t>변경 불가능</a:t>
            </a:r>
            <a:endParaRPr lang="en-US" altLang="ko-KR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916918D-A1AE-E2D8-F5F3-80371E430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#1 (15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59FA3A-9AB7-45AD-AE27-EED0E39B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926888-887A-A031-71E0-5D5147423D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33"/>
          <a:stretch/>
        </p:blipFill>
        <p:spPr>
          <a:xfrm>
            <a:off x="896181" y="3172169"/>
            <a:ext cx="5495925" cy="293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36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6AE824D-8F50-35FD-A1A0-6221C9996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다음장의 그림과 동일한 화면을 구성하기 위한 웹페이지를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2.html </a:t>
            </a:r>
            <a:r>
              <a:rPr lang="ko-KR" altLang="en-US" dirty="0"/>
              <a:t>파일에</a:t>
            </a:r>
            <a:r>
              <a:rPr lang="en-US" altLang="ko-KR" dirty="0"/>
              <a:t> </a:t>
            </a:r>
            <a:r>
              <a:rPr lang="ko-KR" altLang="en-US" dirty="0"/>
              <a:t>코드를 작성할 것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검정배경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셀은 구조 선택자를 활용</a:t>
            </a:r>
            <a:r>
              <a:rPr lang="ko-KR" altLang="en-US" dirty="0"/>
              <a:t>하여 스타일을 적용할 것</a:t>
            </a:r>
            <a:endParaRPr lang="en-US" altLang="ko-KR" dirty="0"/>
          </a:p>
          <a:p>
            <a:pPr lvl="1"/>
            <a:r>
              <a:rPr lang="en-US" altLang="ko-KR" dirty="0"/>
              <a:t>&lt;body&gt; </a:t>
            </a:r>
            <a:r>
              <a:rPr lang="ko-KR" altLang="en-US" dirty="0"/>
              <a:t>안의 요소들은 수정 불가</a:t>
            </a:r>
            <a:r>
              <a:rPr lang="en-US" altLang="ko-KR" dirty="0"/>
              <a:t>  (</a:t>
            </a:r>
            <a:r>
              <a:rPr lang="ko-KR" altLang="en-US" dirty="0"/>
              <a:t>스타일만 적용하여 구성할 것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A131BF8-6507-6988-22C3-4932E61DC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#2 (20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427C8D-FF4F-0DCD-2473-0C28BD5A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95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40BC7FC-2FFC-BCD8-C13F-07580E05B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90D3F57-97A4-AB96-1DAB-46EE77E4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#2 (20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57CC13-3C12-1C70-C364-7BEF2B2D0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D07B22-59B0-5F72-3366-AA6F47703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670" y="514172"/>
            <a:ext cx="5797276" cy="6140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7AFC15-3046-61CC-2FFC-EAE3D2D8AE6B}"/>
              </a:ext>
            </a:extLst>
          </p:cNvPr>
          <p:cNvSpPr txBox="1"/>
          <p:nvPr/>
        </p:nvSpPr>
        <p:spPr>
          <a:xfrm>
            <a:off x="10017029" y="1325078"/>
            <a:ext cx="189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테이블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내부 여백</a:t>
            </a:r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47FE2B06-C125-8ECD-98A0-790E9D102624}"/>
              </a:ext>
            </a:extLst>
          </p:cNvPr>
          <p:cNvSpPr/>
          <p:nvPr/>
        </p:nvSpPr>
        <p:spPr>
          <a:xfrm rot="16200000">
            <a:off x="9664095" y="1287439"/>
            <a:ext cx="252270" cy="113393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1E69BD-091A-03F3-BBBA-8DBBBB6C1EEB}"/>
              </a:ext>
            </a:extLst>
          </p:cNvPr>
          <p:cNvSpPr txBox="1"/>
          <p:nvPr/>
        </p:nvSpPr>
        <p:spPr>
          <a:xfrm>
            <a:off x="10200439" y="934882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10px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85836-9D55-95D5-CA51-F0CDB440276F}"/>
              </a:ext>
            </a:extLst>
          </p:cNvPr>
          <p:cNvSpPr txBox="1"/>
          <p:nvPr/>
        </p:nvSpPr>
        <p:spPr>
          <a:xfrm>
            <a:off x="9491701" y="161136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10px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D17EC-9948-24D6-E122-01E6009B8A4A}"/>
              </a:ext>
            </a:extLst>
          </p:cNvPr>
          <p:cNvSpPr txBox="1"/>
          <p:nvPr/>
        </p:nvSpPr>
        <p:spPr>
          <a:xfrm>
            <a:off x="10368064" y="3071535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skyblue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8449189-94B2-5573-3F0C-37D659A91436}"/>
              </a:ext>
            </a:extLst>
          </p:cNvPr>
          <p:cNvCxnSpPr/>
          <p:nvPr/>
        </p:nvCxnSpPr>
        <p:spPr>
          <a:xfrm flipH="1" flipV="1">
            <a:off x="9790230" y="2831019"/>
            <a:ext cx="562841" cy="4320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F4AE0B4-E78C-4352-FEBB-FA994E8F1733}"/>
              </a:ext>
            </a:extLst>
          </p:cNvPr>
          <p:cNvSpPr txBox="1"/>
          <p:nvPr/>
        </p:nvSpPr>
        <p:spPr>
          <a:xfrm>
            <a:off x="10219956" y="2442147"/>
            <a:ext cx="1378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테이블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내부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ko-KR" altLang="en-US" b="1" dirty="0">
                <a:solidFill>
                  <a:srgbClr val="FF0000"/>
                </a:solidFill>
              </a:rPr>
              <a:t> 배경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색상</a:t>
            </a: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CE3624C4-08F5-1045-3996-C6F88433BC52}"/>
              </a:ext>
            </a:extLst>
          </p:cNvPr>
          <p:cNvSpPr/>
          <p:nvPr/>
        </p:nvSpPr>
        <p:spPr>
          <a:xfrm>
            <a:off x="3998908" y="1044890"/>
            <a:ext cx="291707" cy="5423789"/>
          </a:xfrm>
          <a:prstGeom prst="lef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28B027-C4CA-6A62-5CC3-457430CA544A}"/>
              </a:ext>
            </a:extLst>
          </p:cNvPr>
          <p:cNvSpPr txBox="1"/>
          <p:nvPr/>
        </p:nvSpPr>
        <p:spPr>
          <a:xfrm>
            <a:off x="3087450" y="3460612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500px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7C38A4F3-23A6-3843-BA23-EA1D90883E7A}"/>
              </a:ext>
            </a:extLst>
          </p:cNvPr>
          <p:cNvSpPr/>
          <p:nvPr/>
        </p:nvSpPr>
        <p:spPr>
          <a:xfrm rot="5400000">
            <a:off x="6956455" y="-1922126"/>
            <a:ext cx="291707" cy="5467966"/>
          </a:xfrm>
          <a:prstGeom prst="lef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49BADA-F939-7A6A-7F89-B7ED80CB8CC0}"/>
              </a:ext>
            </a:extLst>
          </p:cNvPr>
          <p:cNvSpPr txBox="1"/>
          <p:nvPr/>
        </p:nvSpPr>
        <p:spPr>
          <a:xfrm>
            <a:off x="6682962" y="135516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500px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17" name="왼쪽 중괄호 16">
            <a:extLst>
              <a:ext uri="{FF2B5EF4-FFF2-40B4-BE49-F238E27FC236}">
                <a16:creationId xmlns:a16="http://schemas.microsoft.com/office/drawing/2014/main" id="{262413ED-A5D2-4203-9150-BD765FDE48F2}"/>
              </a:ext>
            </a:extLst>
          </p:cNvPr>
          <p:cNvSpPr/>
          <p:nvPr/>
        </p:nvSpPr>
        <p:spPr>
          <a:xfrm rot="10800000">
            <a:off x="9858181" y="1049431"/>
            <a:ext cx="252270" cy="113393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E50047-7D52-A9D7-3BEE-0E7B9E08895F}"/>
              </a:ext>
            </a:extLst>
          </p:cNvPr>
          <p:cNvSpPr txBox="1"/>
          <p:nvPr/>
        </p:nvSpPr>
        <p:spPr>
          <a:xfrm>
            <a:off x="10307738" y="4872100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blue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5F437DA-944A-84A4-57E5-1FE1E5D26F08}"/>
              </a:ext>
            </a:extLst>
          </p:cNvPr>
          <p:cNvCxnSpPr/>
          <p:nvPr/>
        </p:nvCxnSpPr>
        <p:spPr>
          <a:xfrm flipH="1" flipV="1">
            <a:off x="9729904" y="4631584"/>
            <a:ext cx="562841" cy="4320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46BD78B-0D25-6523-0161-9552D3A7C70D}"/>
              </a:ext>
            </a:extLst>
          </p:cNvPr>
          <p:cNvSpPr txBox="1"/>
          <p:nvPr/>
        </p:nvSpPr>
        <p:spPr>
          <a:xfrm>
            <a:off x="10178546" y="4521349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경계선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색상</a:t>
            </a:r>
          </a:p>
        </p:txBody>
      </p:sp>
    </p:spTree>
    <p:extLst>
      <p:ext uri="{BB962C8B-B14F-4D97-AF65-F5344CB8AC3E}">
        <p14:creationId xmlns:p14="http://schemas.microsoft.com/office/powerpoint/2010/main" val="221808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9B8D82C-4FE4-FF68-EA88-E288FF72B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다음장의 영상과 동일하게 동작하는 웹페이지를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3.html </a:t>
            </a:r>
            <a:r>
              <a:rPr lang="ko-KR" altLang="en-US" dirty="0"/>
              <a:t>파일에</a:t>
            </a:r>
            <a:r>
              <a:rPr lang="en-US" altLang="ko-KR" dirty="0"/>
              <a:t> </a:t>
            </a:r>
            <a:r>
              <a:rPr lang="ko-KR" altLang="en-US" dirty="0"/>
              <a:t>코드를 작성할 것</a:t>
            </a:r>
            <a:endParaRPr lang="en-US" altLang="ko-KR" dirty="0"/>
          </a:p>
          <a:p>
            <a:pPr lvl="1"/>
            <a:r>
              <a:rPr lang="en-US" altLang="ko-KR" dirty="0"/>
              <a:t>Body </a:t>
            </a:r>
            <a:r>
              <a:rPr lang="ko-KR" altLang="en-US" dirty="0"/>
              <a:t>영역 안의 태그들은 수정 불가</a:t>
            </a:r>
            <a:endParaRPr lang="en-US" altLang="ko-KR" dirty="0"/>
          </a:p>
          <a:p>
            <a:pPr lvl="1"/>
            <a:r>
              <a:rPr lang="ko-KR" altLang="en-US" dirty="0"/>
              <a:t>제공되는 </a:t>
            </a:r>
            <a:r>
              <a:rPr lang="en-US" altLang="ko-KR" dirty="0"/>
              <a:t>div</a:t>
            </a:r>
            <a:r>
              <a:rPr lang="ko-KR" altLang="en-US" dirty="0"/>
              <a:t>와 </a:t>
            </a:r>
            <a:r>
              <a:rPr lang="en-US" altLang="ko-KR" dirty="0" err="1"/>
              <a:t>div.child</a:t>
            </a:r>
            <a:r>
              <a:rPr lang="en-US" altLang="ko-KR" dirty="0"/>
              <a:t> </a:t>
            </a:r>
            <a:r>
              <a:rPr lang="ko-KR" altLang="en-US" dirty="0"/>
              <a:t>스타일 활용</a:t>
            </a:r>
            <a:endParaRPr lang="en-US" altLang="ko-KR" dirty="0"/>
          </a:p>
          <a:p>
            <a:pPr lvl="1"/>
            <a:r>
              <a:rPr lang="ko-KR" altLang="en-US" dirty="0"/>
              <a:t>그 외 필요한 </a:t>
            </a:r>
            <a:r>
              <a:rPr lang="en-US" altLang="ko-KR" dirty="0"/>
              <a:t>CSS</a:t>
            </a:r>
            <a:r>
              <a:rPr lang="ko-KR" altLang="en-US" dirty="0"/>
              <a:t> 추가 가능</a:t>
            </a:r>
            <a:endParaRPr lang="en-US" altLang="ko-KR" dirty="0"/>
          </a:p>
          <a:p>
            <a:pPr lvl="1"/>
            <a:r>
              <a:rPr lang="ko-KR" altLang="en-US" dirty="0"/>
              <a:t>영상 내 큰</a:t>
            </a:r>
            <a:r>
              <a:rPr lang="en-US" altLang="ko-KR" dirty="0"/>
              <a:t>/</a:t>
            </a:r>
            <a:r>
              <a:rPr lang="ko-KR" altLang="en-US" dirty="0"/>
              <a:t>작은 상자들은 </a:t>
            </a:r>
            <a:r>
              <a:rPr lang="ko-KR" altLang="en-US" b="1" u="sng" dirty="0"/>
              <a:t>분홍</a:t>
            </a:r>
            <a:r>
              <a:rPr lang="en-US" altLang="ko-KR" b="1" u="sng" dirty="0"/>
              <a:t>(pink)</a:t>
            </a:r>
            <a:r>
              <a:rPr lang="ko-KR" altLang="en-US" b="1" u="sng" dirty="0"/>
              <a:t>색</a:t>
            </a:r>
            <a:r>
              <a:rPr lang="ko-KR" altLang="en-US" dirty="0"/>
              <a:t>으로 변경됨</a:t>
            </a:r>
            <a:endParaRPr lang="en-US" altLang="ko-KR" dirty="0"/>
          </a:p>
          <a:p>
            <a:pPr lvl="1"/>
            <a:r>
              <a:rPr lang="ko-KR" altLang="en-US" dirty="0"/>
              <a:t>영상 내 작은 상자들에 마우스를 가져가면 </a:t>
            </a:r>
            <a:r>
              <a:rPr lang="ko-KR" altLang="en-US" b="1" u="sng" dirty="0"/>
              <a:t>최상단으로 상승</a:t>
            </a:r>
            <a:r>
              <a:rPr lang="ko-KR" altLang="en-US" dirty="0"/>
              <a:t>하며 좌측으로 </a:t>
            </a:r>
            <a:r>
              <a:rPr lang="ko-KR" altLang="en-US" b="1" u="sng" dirty="0"/>
              <a:t>약 </a:t>
            </a:r>
            <a:r>
              <a:rPr lang="en-US" altLang="ko-KR" b="1" u="sng" dirty="0"/>
              <a:t>2</a:t>
            </a:r>
            <a:r>
              <a:rPr lang="ko-KR" altLang="en-US" b="1" u="sng" dirty="0"/>
              <a:t>초간</a:t>
            </a:r>
            <a:r>
              <a:rPr lang="en-US" altLang="ko-KR" b="1" u="sng" dirty="0"/>
              <a:t>, </a:t>
            </a:r>
            <a:r>
              <a:rPr lang="ko-KR" altLang="en-US" b="1" u="sng" dirty="0"/>
              <a:t> </a:t>
            </a:r>
            <a:r>
              <a:rPr lang="en-US" altLang="ko-KR" b="1" u="sng" dirty="0"/>
              <a:t>25</a:t>
            </a:r>
            <a:r>
              <a:rPr lang="ko-KR" altLang="en-US" b="1" u="sng" dirty="0"/>
              <a:t>도 회전</a:t>
            </a:r>
            <a:r>
              <a:rPr lang="ko-KR" altLang="en-US" dirty="0"/>
              <a:t>함 </a:t>
            </a:r>
            <a:r>
              <a:rPr lang="en-US" altLang="ko-KR" dirty="0"/>
              <a:t>(</a:t>
            </a:r>
            <a:r>
              <a:rPr lang="ko-KR" altLang="en-US" dirty="0"/>
              <a:t>각각 </a:t>
            </a:r>
            <a:r>
              <a:rPr lang="en-US" altLang="ko-KR" dirty="0"/>
              <a:t>4</a:t>
            </a:r>
            <a:r>
              <a:rPr lang="ko-KR" altLang="en-US" dirty="0"/>
              <a:t>점</a:t>
            </a:r>
            <a:r>
              <a:rPr lang="en-US" altLang="ko-KR" dirty="0"/>
              <a:t>/3</a:t>
            </a:r>
            <a:r>
              <a:rPr lang="ko-KR" altLang="en-US" dirty="0"/>
              <a:t>점</a:t>
            </a:r>
            <a:r>
              <a:rPr lang="en-US" altLang="ko-KR" dirty="0"/>
              <a:t>/3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수업시간에 다루지 않은 </a:t>
            </a:r>
            <a:r>
              <a:rPr lang="en-US" altLang="ko-KR" dirty="0">
                <a:solidFill>
                  <a:srgbClr val="FF0000"/>
                </a:solidFill>
              </a:rPr>
              <a:t>CSS </a:t>
            </a:r>
            <a:r>
              <a:rPr lang="ko-KR" altLang="en-US" dirty="0">
                <a:solidFill>
                  <a:srgbClr val="FF0000"/>
                </a:solidFill>
              </a:rPr>
              <a:t>속성인 </a:t>
            </a:r>
            <a:r>
              <a:rPr lang="en-US" altLang="ko-KR" dirty="0">
                <a:solidFill>
                  <a:srgbClr val="FF0000"/>
                </a:solidFill>
              </a:rPr>
              <a:t>transition</a:t>
            </a:r>
            <a:r>
              <a:rPr lang="ko-KR" altLang="en-US" dirty="0">
                <a:solidFill>
                  <a:srgbClr val="FF0000"/>
                </a:solidFill>
              </a:rPr>
              <a:t>과 </a:t>
            </a:r>
            <a:r>
              <a:rPr lang="en-US" altLang="ko-KR" dirty="0">
                <a:solidFill>
                  <a:srgbClr val="FF0000"/>
                </a:solidFill>
              </a:rPr>
              <a:t>transform</a:t>
            </a:r>
            <a:r>
              <a:rPr lang="ko-KR" altLang="en-US" dirty="0">
                <a:solidFill>
                  <a:srgbClr val="FF0000"/>
                </a:solidFill>
              </a:rPr>
              <a:t>을 활용할 것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en-US" altLang="ko-KR" dirty="0">
                <a:solidFill>
                  <a:srgbClr val="FF0000"/>
                </a:solidFill>
              </a:rPr>
              <a:t>MDN</a:t>
            </a:r>
            <a:r>
              <a:rPr lang="ko-KR" altLang="en-US" dirty="0">
                <a:solidFill>
                  <a:srgbClr val="FF0000"/>
                </a:solidFill>
              </a:rPr>
              <a:t> 레퍼런스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참조 필요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ko-KR" altLang="en-US" dirty="0"/>
              <a:t>상자들의 위치는 영상과 유사한 정도로만 맞춰줄 것 </a:t>
            </a:r>
            <a:endParaRPr lang="en-US" altLang="ko-KR" dirty="0"/>
          </a:p>
          <a:p>
            <a:pPr lvl="2"/>
            <a:r>
              <a:rPr lang="ko-KR" altLang="en-US" dirty="0"/>
              <a:t>정확한 위치</a:t>
            </a:r>
            <a:r>
              <a:rPr lang="en-US" altLang="ko-KR" dirty="0"/>
              <a:t>(x/y </a:t>
            </a:r>
            <a:r>
              <a:rPr lang="ko-KR" altLang="en-US" dirty="0"/>
              <a:t>좌표</a:t>
            </a:r>
            <a:r>
              <a:rPr lang="en-US" altLang="ko-KR" dirty="0"/>
              <a:t>)</a:t>
            </a:r>
            <a:r>
              <a:rPr lang="ko-KR" altLang="en-US" dirty="0"/>
              <a:t>까지 맞을 필요 없음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DC25D60-1E44-ABEE-4AF0-3A664904F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#3 (25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1430A4-F85A-305C-C055-71D9629B9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3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D199DA3-5B6E-EE55-B384-AC0D869B3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51D2F6B-AC7E-C5E7-6BFB-26421562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#3 (25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0376D-C04F-9924-4494-09D9ECC08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bandicam 2018-04-23 22-03-35-042">
            <a:hlinkClick r:id="" action="ppaction://media"/>
            <a:extLst>
              <a:ext uri="{FF2B5EF4-FFF2-40B4-BE49-F238E27FC236}">
                <a16:creationId xmlns:a16="http://schemas.microsoft.com/office/drawing/2014/main" id="{EF4F9F79-4A9F-589F-2A3A-79211F65FCF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94883" y="277526"/>
            <a:ext cx="7237676" cy="615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4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Diamond Grid 16x9">
  <a:themeElements>
    <a:clrScheme name="Custom 2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000000"/>
      </a:accent1>
      <a:accent2>
        <a:srgbClr val="DF977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15_4109default" id="{E728D685-11FC-4812-BA85-57AC6F9C9F40}" vid="{BC4E008B-95FF-4815-904E-143A8EDFC1D4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7087C0F-7449-45C4-B248-63D02665BF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0</TotalTime>
  <Words>360</Words>
  <Application>Microsoft Office PowerPoint</Application>
  <PresentationFormat>와이드스크린</PresentationFormat>
  <Paragraphs>62</Paragraphs>
  <Slides>8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Wingdings</vt:lpstr>
      <vt:lpstr>Diamond Grid 16x9</vt:lpstr>
      <vt:lpstr>Web Programming</vt:lpstr>
      <vt:lpstr>Intro</vt:lpstr>
      <vt:lpstr>#0 (10점)</vt:lpstr>
      <vt:lpstr>#1 (15점)</vt:lpstr>
      <vt:lpstr>#2 (20점)</vt:lpstr>
      <vt:lpstr>#2 (20점)</vt:lpstr>
      <vt:lpstr>#3 (25점)</vt:lpstr>
      <vt:lpstr>#3 (25점)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2016-03-20T12:53:11Z</dcterms:created>
  <dcterms:modified xsi:type="dcterms:W3CDTF">2026-04-22T14:41:02Z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TC030310159991</vt:lpwstr>
  </property>
</Properties>
</file>