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8"/>
  </p:notesMasterIdLst>
  <p:sldIdLst>
    <p:sldId id="320" r:id="rId3"/>
    <p:sldId id="339" r:id="rId4"/>
    <p:sldId id="340" r:id="rId5"/>
    <p:sldId id="346" r:id="rId6"/>
    <p:sldId id="34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0" autoAdjust="0"/>
    <p:restoredTop sz="94660"/>
  </p:normalViewPr>
  <p:slideViewPr>
    <p:cSldViewPr snapToGrid="0">
      <p:cViewPr varScale="1">
        <p:scale>
          <a:sx n="93" d="100"/>
          <a:sy n="93" d="100"/>
        </p:scale>
        <p:origin x="5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D0AFC-EF7C-4E79-863A-557E7A8EA1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11EB9-F990-4E62-AED6-C787F2ECB9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90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01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90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11EB9-F990-4E62-AED6-C787F2ECB9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378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B768C-B4E3-44C5-0C72-1526C50DB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7FE174-C52A-ED6B-B600-CD43EB3A0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0CC8FF-5B09-34B9-C5CA-5D5998C3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926123-B8BB-B46B-965D-7E83E946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CE0B7-C6AE-B4F4-CFB5-966233926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894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51B74-3BD3-DA25-04C9-D029D4DE2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1D924-0258-DDE9-4717-C6824B671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68917F-A72A-45DC-1498-0EB017FB6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F4707-A7F4-F02B-2C66-1C0B38881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334CA9-A3FF-71FE-1C57-B5D8943B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57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A2CFC-86A9-CF7F-D413-554E0FA5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334F4F-3327-6ED3-FF46-93264083F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1B16A7-1452-AEC4-A2A8-4A61A0B4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D7657-A86D-57B0-A631-9234CA35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13D65D-C9DE-4D64-0972-21306D70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59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12667-260B-7EA5-6741-EF24CF24A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A9B351-7E24-C0A9-B394-A9CEFB146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5AAB14-7D70-11F7-0FF8-FADB19B8E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9C3C6C-28FB-A215-D0E1-0A44B717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3FF7F2-6AC1-1EB0-6028-2C016D2CB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4E8EC4-61A1-264E-BB39-06CCCE70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19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E3792-29DB-D357-D69F-49D4A3526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B652A7-276A-9DA7-6659-6B6AC6D5E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D66D3-5BC9-67A7-C0B5-04F75D863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73EBC0-F224-D9B1-70A2-49F10DC98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C5A1A4-EF4A-DCA6-CB8C-DA99937E56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C397BF-A104-8F72-ABE1-40F0BA41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79ECA6-E8E7-66EF-99CD-52550829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638D3B-3F1C-D5E4-556E-00B37BA1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04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95A48-C795-6C30-C213-BBF2CB07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6608BF-1E24-4583-95D2-59D971ED0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574028-B823-D7E0-2A39-28E79E00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2CABA1-8D4C-6477-9FE8-F36309E1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66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F79D42-96ED-9831-673E-CFA85B3FC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284271-F4C8-929C-F160-547E110EB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7F7EFE-1A70-08B0-2717-3DAE4778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75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B72F6D-6430-2EF7-3936-AC10D74F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845B5-5950-CB72-C964-77736ECDE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8D98E5-E3DC-DEBC-473F-817CE2604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F1AFC8-7F01-BB87-EDCB-837D715C2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46E8BB-ABCD-58F6-9A59-3BA82AE2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DE377C-3076-9DB1-C311-3E9F2E01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17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7590C-21AD-B61E-005B-7290331DC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E43693-C5EE-032D-30F3-47D2ADE5B2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0395E3-7C4D-462C-0040-643F68EAF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61E465-A82A-38E9-C2F8-F71C1FAC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C0D1AA-DC70-531A-6634-67384E0DD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D0EA4D-8BFB-3B6C-96BC-F5D653D75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730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FF4DB-9E27-686C-A289-E831C468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BF3A77-B196-A76F-E574-F1F365D7B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77EB22-F673-A81B-1BD3-CDDE78145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A90604-54D4-7B54-7BA7-CA151DBF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BF49FA-F70D-1B6F-042B-A00E554C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336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43A83D-2C82-1332-AA33-5C6CF7F3FA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C79B64-2ED0-6116-637E-5428D2CF2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A36DE8-0137-E45C-1DD2-B599FC93D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44CE8B-212C-B316-0F86-5582CDD8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3052EE-A8B0-362F-5A91-A24F18F5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785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59329"/>
            <a:ext cx="10974592" cy="5327196"/>
          </a:xfrm>
        </p:spPr>
        <p:txBody>
          <a:bodyPr>
            <a:normAutofit/>
          </a:bodyPr>
          <a:lstStyle>
            <a:lvl1pPr marL="228600" indent="-228600">
              <a:buClr>
                <a:srgbClr val="FA6E6E"/>
              </a:buClr>
              <a:buFont typeface="Arial" panose="020B0604020202020204" pitchFamily="34" charset="0"/>
              <a:buChar char="■"/>
              <a:defRPr sz="2400"/>
            </a:lvl1pPr>
            <a:lvl2pPr marL="538163" indent="-263525">
              <a:lnSpc>
                <a:spcPct val="100000"/>
              </a:lnSpc>
              <a:buClr>
                <a:srgbClr val="FA6E6E"/>
              </a:buClr>
              <a:buFont typeface="Wingdings" panose="05000000000000000000" pitchFamily="2" charset="2"/>
              <a:buChar char="Ø"/>
              <a:defRPr sz="2000"/>
            </a:lvl2pPr>
            <a:lvl3pPr marL="685800" indent="-179388">
              <a:lnSpc>
                <a:spcPct val="100000"/>
              </a:lnSpc>
              <a:buClr>
                <a:srgbClr val="FA6E6E"/>
              </a:buClr>
              <a:buFont typeface="Arial" panose="020B0604020202020204" pitchFamily="34" charset="0"/>
              <a:buChar char="•"/>
              <a:defRPr sz="1800"/>
            </a:lvl3pPr>
            <a:lvl4pPr marL="914400" indent="-182880">
              <a:lnSpc>
                <a:spcPct val="100000"/>
              </a:lnSpc>
              <a:buClr>
                <a:srgbClr val="FA6E6E"/>
              </a:buClr>
              <a:buFont typeface="Arial" panose="020B0604020202020204" pitchFamily="34" charset="0"/>
              <a:buChar char="■"/>
              <a:defRPr sz="1600"/>
            </a:lvl4pPr>
            <a:lvl5pPr marL="1143000" indent="-179388">
              <a:buClr>
                <a:srgbClr val="FA6E6E"/>
              </a:buClr>
              <a:buFont typeface="Arial" panose="020B0604020202020204" pitchFamily="34" charset="0"/>
              <a:buChar char="■"/>
              <a:defRPr sz="1600"/>
            </a:lvl5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609601" y="3603"/>
            <a:ext cx="10974592" cy="96173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>
          <a:xfrm>
            <a:off x="11273117" y="6654417"/>
            <a:ext cx="918883" cy="222436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0" y="6593821"/>
            <a:ext cx="12192000" cy="3314"/>
          </a:xfrm>
          <a:prstGeom prst="line">
            <a:avLst/>
          </a:prstGeom>
          <a:ln w="63500" cmpd="tri">
            <a:gradFill flip="none" rotWithShape="1">
              <a:gsLst>
                <a:gs pos="14000">
                  <a:schemeClr val="accent1">
                    <a:lumMod val="5000"/>
                    <a:lumOff val="95000"/>
                  </a:schemeClr>
                </a:gs>
                <a:gs pos="72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8">
            <a:extLst>
              <a:ext uri="{FF2B5EF4-FFF2-40B4-BE49-F238E27FC236}">
                <a16:creationId xmlns:a16="http://schemas.microsoft.com/office/drawing/2014/main" id="{C404ACA3-99F8-4DE1-BF6A-C1BAE32ADC6F}"/>
              </a:ext>
            </a:extLst>
          </p:cNvPr>
          <p:cNvCxnSpPr>
            <a:cxnSpLocks/>
          </p:cNvCxnSpPr>
          <p:nvPr userDrawn="1"/>
        </p:nvCxnSpPr>
        <p:spPr>
          <a:xfrm>
            <a:off x="8117516" y="1047499"/>
            <a:ext cx="4080000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8">
            <a:extLst>
              <a:ext uri="{FF2B5EF4-FFF2-40B4-BE49-F238E27FC236}">
                <a16:creationId xmlns:a16="http://schemas.microsoft.com/office/drawing/2014/main" id="{20B13FD4-5468-487B-A2ED-5EEAB4D770CE}"/>
              </a:ext>
            </a:extLst>
          </p:cNvPr>
          <p:cNvCxnSpPr>
            <a:cxnSpLocks/>
          </p:cNvCxnSpPr>
          <p:nvPr userDrawn="1"/>
        </p:nvCxnSpPr>
        <p:spPr>
          <a:xfrm>
            <a:off x="4034380" y="1043541"/>
            <a:ext cx="4080000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58">
            <a:extLst>
              <a:ext uri="{FF2B5EF4-FFF2-40B4-BE49-F238E27FC236}">
                <a16:creationId xmlns:a16="http://schemas.microsoft.com/office/drawing/2014/main" id="{C01815BC-6AD3-4DF7-93D8-79220C64C17F}"/>
              </a:ext>
            </a:extLst>
          </p:cNvPr>
          <p:cNvCxnSpPr>
            <a:cxnSpLocks/>
          </p:cNvCxnSpPr>
          <p:nvPr userDrawn="1"/>
        </p:nvCxnSpPr>
        <p:spPr>
          <a:xfrm>
            <a:off x="-1" y="1037591"/>
            <a:ext cx="4032000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A9DF8264-D112-4666-A363-B02ABAD1F337}"/>
              </a:ext>
            </a:extLst>
          </p:cNvPr>
          <p:cNvSpPr/>
          <p:nvPr userDrawn="1"/>
        </p:nvSpPr>
        <p:spPr>
          <a:xfrm>
            <a:off x="-75728" y="6598050"/>
            <a:ext cx="628674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Interaction Lab., Seoul National University of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40771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686180" y="24218"/>
            <a:ext cx="12192003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0194" y="1269812"/>
            <a:ext cx="10972012" cy="3383280"/>
          </a:xfrm>
        </p:spPr>
        <p:txBody>
          <a:bodyPr anchor="ctr">
            <a:normAutofit/>
          </a:bodyPr>
          <a:lstStyle>
            <a:lvl1pPr algn="l">
              <a:lnSpc>
                <a:spcPct val="76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9822" y="5061089"/>
            <a:ext cx="5489885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-75728" y="6572172"/>
            <a:ext cx="580025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Interaction Lab.</a:t>
            </a:r>
          </a:p>
        </p:txBody>
      </p:sp>
      <p:cxnSp>
        <p:nvCxnSpPr>
          <p:cNvPr id="59" name="Straight Connector 58"/>
          <p:cNvCxnSpPr>
            <a:cxnSpLocks/>
          </p:cNvCxnSpPr>
          <p:nvPr userDrawn="1"/>
        </p:nvCxnSpPr>
        <p:spPr>
          <a:xfrm>
            <a:off x="9687819" y="4964468"/>
            <a:ext cx="1223039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 userDrawn="1"/>
        </p:nvSpPr>
        <p:spPr>
          <a:xfrm>
            <a:off x="7528058" y="6567506"/>
            <a:ext cx="473707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</a:rPr>
              <a:t>Seoul National University of Science and Technology</a:t>
            </a:r>
          </a:p>
        </p:txBody>
      </p:sp>
      <p:pic>
        <p:nvPicPr>
          <p:cNvPr id="1026" name="Picture 2" descr="서울과학기술대학교 로고">
            <a:extLst>
              <a:ext uri="{FF2B5EF4-FFF2-40B4-BE49-F238E27FC236}">
                <a16:creationId xmlns:a16="http://schemas.microsoft.com/office/drawing/2014/main" id="{74C2DAE3-3DE3-4068-80F9-51F987532B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942" y="4397"/>
            <a:ext cx="2774196" cy="61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Connector 58">
            <a:extLst>
              <a:ext uri="{FF2B5EF4-FFF2-40B4-BE49-F238E27FC236}">
                <a16:creationId xmlns:a16="http://schemas.microsoft.com/office/drawing/2014/main" id="{D1841837-60C8-4CAD-AA2C-8F98832A3F49}"/>
              </a:ext>
            </a:extLst>
          </p:cNvPr>
          <p:cNvCxnSpPr>
            <a:cxnSpLocks/>
          </p:cNvCxnSpPr>
          <p:nvPr userDrawn="1"/>
        </p:nvCxnSpPr>
        <p:spPr>
          <a:xfrm>
            <a:off x="8464779" y="4960100"/>
            <a:ext cx="1223039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58">
            <a:extLst>
              <a:ext uri="{FF2B5EF4-FFF2-40B4-BE49-F238E27FC236}">
                <a16:creationId xmlns:a16="http://schemas.microsoft.com/office/drawing/2014/main" id="{DCA3FC18-41D5-4E29-9808-35E62EC5ED11}"/>
              </a:ext>
            </a:extLst>
          </p:cNvPr>
          <p:cNvCxnSpPr>
            <a:cxnSpLocks/>
          </p:cNvCxnSpPr>
          <p:nvPr userDrawn="1"/>
        </p:nvCxnSpPr>
        <p:spPr>
          <a:xfrm>
            <a:off x="7241741" y="4953936"/>
            <a:ext cx="1223039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58">
            <a:extLst>
              <a:ext uri="{FF2B5EF4-FFF2-40B4-BE49-F238E27FC236}">
                <a16:creationId xmlns:a16="http://schemas.microsoft.com/office/drawing/2014/main" id="{DD88A32C-EC5C-4C7D-AB0E-BE2BA36C36CA}"/>
              </a:ext>
            </a:extLst>
          </p:cNvPr>
          <p:cNvCxnSpPr>
            <a:cxnSpLocks/>
          </p:cNvCxnSpPr>
          <p:nvPr userDrawn="1"/>
        </p:nvCxnSpPr>
        <p:spPr>
          <a:xfrm>
            <a:off x="7844374" y="5602766"/>
            <a:ext cx="1223039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58">
            <a:extLst>
              <a:ext uri="{FF2B5EF4-FFF2-40B4-BE49-F238E27FC236}">
                <a16:creationId xmlns:a16="http://schemas.microsoft.com/office/drawing/2014/main" id="{88EF6287-0C9B-4CFA-87CA-436C952B1C03}"/>
              </a:ext>
            </a:extLst>
          </p:cNvPr>
          <p:cNvCxnSpPr>
            <a:cxnSpLocks/>
          </p:cNvCxnSpPr>
          <p:nvPr userDrawn="1"/>
        </p:nvCxnSpPr>
        <p:spPr>
          <a:xfrm>
            <a:off x="6621334" y="5596811"/>
            <a:ext cx="1223039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58">
            <a:extLst>
              <a:ext uri="{FF2B5EF4-FFF2-40B4-BE49-F238E27FC236}">
                <a16:creationId xmlns:a16="http://schemas.microsoft.com/office/drawing/2014/main" id="{734EA8C1-8186-417D-88B4-4FFDF0B00D31}"/>
              </a:ext>
            </a:extLst>
          </p:cNvPr>
          <p:cNvCxnSpPr>
            <a:cxnSpLocks/>
          </p:cNvCxnSpPr>
          <p:nvPr userDrawn="1"/>
        </p:nvCxnSpPr>
        <p:spPr>
          <a:xfrm>
            <a:off x="5398295" y="5590647"/>
            <a:ext cx="1223039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99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59329"/>
            <a:ext cx="10974592" cy="5327196"/>
          </a:xfrm>
        </p:spPr>
        <p:txBody>
          <a:bodyPr>
            <a:normAutofit/>
          </a:bodyPr>
          <a:lstStyle>
            <a:lvl1pPr marL="228600" indent="-228600">
              <a:buClr>
                <a:srgbClr val="FA6E6E"/>
              </a:buClr>
              <a:buFont typeface="Arial" panose="020B0604020202020204" pitchFamily="34" charset="0"/>
              <a:buChar char="■"/>
              <a:defRPr sz="2400"/>
            </a:lvl1pPr>
            <a:lvl2pPr marL="538163" indent="-263525">
              <a:lnSpc>
                <a:spcPct val="100000"/>
              </a:lnSpc>
              <a:buClr>
                <a:srgbClr val="FA6E6E"/>
              </a:buClr>
              <a:buFont typeface="Wingdings" panose="05000000000000000000" pitchFamily="2" charset="2"/>
              <a:buChar char="Ø"/>
              <a:defRPr sz="2000"/>
            </a:lvl2pPr>
            <a:lvl3pPr marL="685800" indent="-179388">
              <a:lnSpc>
                <a:spcPct val="100000"/>
              </a:lnSpc>
              <a:buClr>
                <a:srgbClr val="FA6E6E"/>
              </a:buClr>
              <a:buFont typeface="Arial" panose="020B0604020202020204" pitchFamily="34" charset="0"/>
              <a:buChar char="•"/>
              <a:defRPr sz="1800"/>
            </a:lvl3pPr>
            <a:lvl4pPr marL="914400" indent="-182880">
              <a:lnSpc>
                <a:spcPct val="100000"/>
              </a:lnSpc>
              <a:buClr>
                <a:srgbClr val="FA6E6E"/>
              </a:buClr>
              <a:buFont typeface="Arial" panose="020B0604020202020204" pitchFamily="34" charset="0"/>
              <a:buChar char="■"/>
              <a:defRPr sz="1600"/>
            </a:lvl4pPr>
            <a:lvl5pPr marL="1143000" indent="-179388">
              <a:buClr>
                <a:srgbClr val="FA6E6E"/>
              </a:buClr>
              <a:buFont typeface="Arial" panose="020B0604020202020204" pitchFamily="34" charset="0"/>
              <a:buChar char="■"/>
              <a:defRPr sz="1600"/>
            </a:lvl5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609601" y="3603"/>
            <a:ext cx="10974592" cy="96173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>
          <a:xfrm>
            <a:off x="11273117" y="6654417"/>
            <a:ext cx="918883" cy="222436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0" y="6593821"/>
            <a:ext cx="12192000" cy="3314"/>
          </a:xfrm>
          <a:prstGeom prst="line">
            <a:avLst/>
          </a:prstGeom>
          <a:ln w="63500" cmpd="tri">
            <a:gradFill flip="none" rotWithShape="1">
              <a:gsLst>
                <a:gs pos="14000">
                  <a:schemeClr val="accent1">
                    <a:lumMod val="5000"/>
                    <a:lumOff val="95000"/>
                  </a:schemeClr>
                </a:gs>
                <a:gs pos="72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8">
            <a:extLst>
              <a:ext uri="{FF2B5EF4-FFF2-40B4-BE49-F238E27FC236}">
                <a16:creationId xmlns:a16="http://schemas.microsoft.com/office/drawing/2014/main" id="{C404ACA3-99F8-4DE1-BF6A-C1BAE32ADC6F}"/>
              </a:ext>
            </a:extLst>
          </p:cNvPr>
          <p:cNvCxnSpPr>
            <a:cxnSpLocks/>
          </p:cNvCxnSpPr>
          <p:nvPr userDrawn="1"/>
        </p:nvCxnSpPr>
        <p:spPr>
          <a:xfrm>
            <a:off x="8117516" y="1047499"/>
            <a:ext cx="4080000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8">
            <a:extLst>
              <a:ext uri="{FF2B5EF4-FFF2-40B4-BE49-F238E27FC236}">
                <a16:creationId xmlns:a16="http://schemas.microsoft.com/office/drawing/2014/main" id="{20B13FD4-5468-487B-A2ED-5EEAB4D770CE}"/>
              </a:ext>
            </a:extLst>
          </p:cNvPr>
          <p:cNvCxnSpPr>
            <a:cxnSpLocks/>
          </p:cNvCxnSpPr>
          <p:nvPr userDrawn="1"/>
        </p:nvCxnSpPr>
        <p:spPr>
          <a:xfrm>
            <a:off x="4034380" y="1043541"/>
            <a:ext cx="4080000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58">
            <a:extLst>
              <a:ext uri="{FF2B5EF4-FFF2-40B4-BE49-F238E27FC236}">
                <a16:creationId xmlns:a16="http://schemas.microsoft.com/office/drawing/2014/main" id="{C01815BC-6AD3-4DF7-93D8-79220C64C17F}"/>
              </a:ext>
            </a:extLst>
          </p:cNvPr>
          <p:cNvCxnSpPr>
            <a:cxnSpLocks/>
          </p:cNvCxnSpPr>
          <p:nvPr userDrawn="1"/>
        </p:nvCxnSpPr>
        <p:spPr>
          <a:xfrm>
            <a:off x="-1" y="1037591"/>
            <a:ext cx="4032000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A9DF8264-D112-4666-A363-B02ABAD1F337}"/>
              </a:ext>
            </a:extLst>
          </p:cNvPr>
          <p:cNvSpPr/>
          <p:nvPr userDrawn="1"/>
        </p:nvSpPr>
        <p:spPr>
          <a:xfrm>
            <a:off x="-75728" y="6598050"/>
            <a:ext cx="628674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Interaction Lab., Seoul National University of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11551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60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201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201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4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5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5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5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8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3/12/2026</a:t>
            </a:fld>
            <a:endParaRPr lang="en-US"/>
          </a:p>
        </p:txBody>
      </p: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6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90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F629-ECA2-4CF3-B790-9D9BDED98269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5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90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906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7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8"/>
            <a:ext cx="1687287" cy="5301343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8"/>
            <a:ext cx="7587344" cy="5301343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9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9EA45B-A807-7713-4518-CA783B5E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07A8E6-AD75-04EC-1901-C88F3FA26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659646-A050-246B-2E79-30E6C01F0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9004C2-671B-41A4-AAC1-9ED55EDD31E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BECA19-15E5-E684-4297-3772A363D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A6101C-A340-FE5C-6869-AA7D48AB5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1FC4E-09C6-44DD-B5D1-2573ADA54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87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5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2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2" y="6289679"/>
            <a:ext cx="6128031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Data Engineering Lab., </a:t>
            </a:r>
            <a:r>
              <a:rPr lang="en-US" dirty="0" err="1"/>
              <a:t>Kumoh</a:t>
            </a:r>
            <a:r>
              <a:rPr lang="en-US" dirty="0"/>
              <a:t> National </a:t>
            </a:r>
            <a:r>
              <a:rPr lang="en-US" dirty="0" err="1"/>
              <a:t>Institue</a:t>
            </a:r>
            <a:r>
              <a:rPr lang="en-US" dirty="0"/>
              <a:t>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3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2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1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1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/>
              <a:t>아래와 같이 테이블 구조를 수정해보시오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</a:t>
            </a:r>
            <a:r>
              <a:rPr lang="ko-KR" altLang="en-US" dirty="0"/>
              <a:t>테이블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BEC50DA-B7A9-FA2D-9701-5131B6E14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00" y="1861038"/>
            <a:ext cx="4385740" cy="2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7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&lt;</a:t>
            </a:r>
            <a:r>
              <a:rPr lang="en-US" altLang="ko-KR" dirty="0" err="1"/>
              <a:t>br</a:t>
            </a:r>
            <a:r>
              <a:rPr lang="en-US" altLang="ko-KR" dirty="0"/>
              <a:t>&gt; </a:t>
            </a:r>
            <a:r>
              <a:rPr lang="ko-KR" altLang="en-US" dirty="0"/>
              <a:t>태그를 삽입하여 긴 문서를 만들어보자</a:t>
            </a:r>
            <a:r>
              <a:rPr lang="en-US" altLang="ko-KR" dirty="0"/>
              <a:t>!</a:t>
            </a:r>
          </a:p>
          <a:p>
            <a:pPr lvl="2"/>
            <a:r>
              <a:rPr lang="ko-KR" altLang="en-US" dirty="0"/>
              <a:t>문서 내 이동</a:t>
            </a:r>
            <a:r>
              <a:rPr lang="en-US" altLang="ko-KR" dirty="0"/>
              <a:t>(</a:t>
            </a:r>
            <a:r>
              <a:rPr lang="ko-KR" altLang="en-US" dirty="0" err="1"/>
              <a:t>북마크</a:t>
            </a:r>
            <a:r>
              <a:rPr lang="en-US" altLang="ko-KR" dirty="0"/>
              <a:t>)</a:t>
            </a:r>
            <a:r>
              <a:rPr lang="ko-KR" altLang="en-US" dirty="0"/>
              <a:t>이 확실하게 느껴지는가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‘</a:t>
            </a:r>
            <a:r>
              <a:rPr lang="ko-KR" altLang="en-US" dirty="0"/>
              <a:t>뒤로</a:t>
            </a:r>
            <a:r>
              <a:rPr lang="en-US" altLang="ko-KR" dirty="0"/>
              <a:t>’ </a:t>
            </a:r>
            <a:r>
              <a:rPr lang="ko-KR" altLang="en-US" dirty="0"/>
              <a:t>링크를 만들어보자</a:t>
            </a:r>
            <a:r>
              <a:rPr lang="en-US" altLang="ko-KR" dirty="0"/>
              <a:t>!</a:t>
            </a:r>
          </a:p>
          <a:p>
            <a:pPr lvl="2"/>
            <a:r>
              <a:rPr lang="ko-KR" altLang="en-US" dirty="0"/>
              <a:t>각 과제 타이틀에서 메뉴 리스트로 이동할 수 있는 링크 생성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링크</a:t>
            </a:r>
            <a:r>
              <a:rPr lang="en-US" altLang="ko-KR" dirty="0"/>
              <a:t> - </a:t>
            </a:r>
            <a:r>
              <a:rPr lang="ko-KR" altLang="en-US" dirty="0"/>
              <a:t>북마크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ACBFA6-C9EE-3D10-8EB2-C98CE5C4B5B9}"/>
              </a:ext>
            </a:extLst>
          </p:cNvPr>
          <p:cNvSpPr txBox="1"/>
          <p:nvPr/>
        </p:nvSpPr>
        <p:spPr>
          <a:xfrm>
            <a:off x="1743388" y="1485708"/>
            <a:ext cx="78025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    &lt;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h1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서울과기대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 갤러리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&lt;/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h1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    &lt;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ol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      &lt;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li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&gt;&lt;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a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AAF19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href</a:t>
            </a:r>
            <a:r>
              <a:rPr kumimoji="0" lang="en-US" altLang="ko-KR" sz="1800" b="0" i="1" u="none" strike="noStrike" kern="1200" cap="none" spc="0" normalizeH="0" baseline="0" noProof="0" dirty="0">
                <a:ln>
                  <a:noFill/>
                </a:ln>
                <a:solidFill>
                  <a:srgbClr val="CD3704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=</a:t>
            </a:r>
            <a:r>
              <a:rPr kumimoji="0" lang="en-US" altLang="ko-KR" sz="1800" b="0" i="1" u="none" strike="noStrike" kern="1200" cap="none" spc="0" normalizeH="0" baseline="0" noProof="0" dirty="0">
                <a:ln>
                  <a:noFill/>
                </a:ln>
                <a:solidFill>
                  <a:srgbClr val="F25A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"#homework01"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과제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1&lt;/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a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&gt;&lt;/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li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      &lt;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li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&gt;&lt;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a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AAF19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href</a:t>
            </a:r>
            <a:r>
              <a:rPr kumimoji="0" lang="en-US" altLang="ko-KR" sz="1800" b="0" i="1" u="none" strike="noStrike" kern="1200" cap="none" spc="0" normalizeH="0" baseline="0" noProof="0" dirty="0">
                <a:ln>
                  <a:noFill/>
                </a:ln>
                <a:solidFill>
                  <a:srgbClr val="CD3704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=</a:t>
            </a:r>
            <a:r>
              <a:rPr kumimoji="0" lang="en-US" altLang="ko-KR" sz="1800" b="0" i="1" u="none" strike="noStrike" kern="1200" cap="none" spc="0" normalizeH="0" baseline="0" noProof="0" dirty="0">
                <a:ln>
                  <a:noFill/>
                </a:ln>
                <a:solidFill>
                  <a:srgbClr val="F25A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"#homework02"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과제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2&lt;/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a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&gt;&lt;/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li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    &lt;/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ol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    &lt;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h2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6AAF19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id</a:t>
            </a:r>
            <a:r>
              <a:rPr kumimoji="0" lang="en-US" altLang="ko-KR" sz="1800" b="0" i="1" u="none" strike="noStrike" kern="1200" cap="none" spc="0" normalizeH="0" baseline="0" noProof="0" dirty="0">
                <a:ln>
                  <a:noFill/>
                </a:ln>
                <a:solidFill>
                  <a:srgbClr val="CD3704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=</a:t>
            </a:r>
            <a:r>
              <a:rPr kumimoji="0" lang="en-US" altLang="ko-KR" sz="1800" b="0" i="1" u="none" strike="noStrike" kern="1200" cap="none" spc="0" normalizeH="0" baseline="0" noProof="0" dirty="0">
                <a:ln>
                  <a:noFill/>
                </a:ln>
                <a:solidFill>
                  <a:srgbClr val="F25A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"homework01"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첫 번째 과제의 내용입니다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.&lt;/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h2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    &lt;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h2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6AAF19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id</a:t>
            </a:r>
            <a:r>
              <a:rPr kumimoji="0" lang="en-US" altLang="ko-KR" sz="1800" b="0" i="1" u="none" strike="noStrike" kern="1200" cap="none" spc="0" normalizeH="0" baseline="0" noProof="0" dirty="0">
                <a:ln>
                  <a:noFill/>
                </a:ln>
                <a:solidFill>
                  <a:srgbClr val="CD3704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=</a:t>
            </a:r>
            <a:r>
              <a:rPr kumimoji="0" lang="en-US" altLang="ko-KR" sz="1800" b="0" i="1" u="none" strike="noStrike" kern="1200" cap="none" spc="0" normalizeH="0" baseline="0" noProof="0" dirty="0">
                <a:ln>
                  <a:noFill/>
                </a:ln>
                <a:solidFill>
                  <a:srgbClr val="F25A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"homework02"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두 번째 과제의 내용입니다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.&lt;/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h2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Y중고딕" panose="02030600000101010101" pitchFamily="18" charset="-127"/>
                <a:cs typeface="+mn-c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5335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130AB213-12D7-AD99-CBE4-B80D9E0CD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891" y="1849106"/>
            <a:ext cx="3219450" cy="4305300"/>
          </a:xfrm>
          <a:prstGeom prst="rect">
            <a:avLst/>
          </a:prstGeom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문서 구조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링크</a:t>
            </a:r>
            <a:r>
              <a:rPr lang="en-US" altLang="ko-KR" dirty="0"/>
              <a:t> - </a:t>
            </a:r>
            <a:r>
              <a:rPr lang="ko-KR" altLang="en-US" dirty="0"/>
              <a:t>북마크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 rot="5400000">
            <a:off x="4746889" y="340634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HY중고딕" panose="02030600000101010101" pitchFamily="18" charset="-127"/>
                <a:cs typeface="+mn-cs"/>
              </a:rPr>
              <a:t>…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HY중고딕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 rot="5400000">
            <a:off x="4746889" y="495585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HY중고딕" panose="02030600000101010101" pitchFamily="18" charset="-127"/>
                <a:cs typeface="+mn-cs"/>
              </a:rPr>
              <a:t>…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HY중고딕" panose="02030600000101010101" pitchFamily="18" charset="-127"/>
              <a:cs typeface="+mn-cs"/>
            </a:endParaRPr>
          </a:p>
        </p:txBody>
      </p:sp>
      <p:cxnSp>
        <p:nvCxnSpPr>
          <p:cNvPr id="12" name="꺾인 연결선 11"/>
          <p:cNvCxnSpPr>
            <a:cxnSpLocks/>
          </p:cNvCxnSpPr>
          <p:nvPr/>
        </p:nvCxnSpPr>
        <p:spPr>
          <a:xfrm rot="5400000">
            <a:off x="3333932" y="3547120"/>
            <a:ext cx="1584000" cy="36000"/>
          </a:xfrm>
          <a:prstGeom prst="bentConnector4">
            <a:avLst>
              <a:gd name="adj1" fmla="val 444"/>
              <a:gd name="adj2" fmla="val 2274725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/>
          <p:nvPr/>
        </p:nvCxnSpPr>
        <p:spPr>
          <a:xfrm rot="5400000">
            <a:off x="2991377" y="4092179"/>
            <a:ext cx="2232000" cy="36000"/>
          </a:xfrm>
          <a:prstGeom prst="bentConnector4">
            <a:avLst>
              <a:gd name="adj1" fmla="val 444"/>
              <a:gd name="adj2" fmla="val 1461711"/>
            </a:avLst>
          </a:prstGeom>
          <a:ln w="28575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/>
          <p:nvPr/>
        </p:nvCxnSpPr>
        <p:spPr>
          <a:xfrm flipH="1" flipV="1">
            <a:off x="6806059" y="2269376"/>
            <a:ext cx="324000" cy="2556000"/>
          </a:xfrm>
          <a:prstGeom prst="bentConnector3">
            <a:avLst>
              <a:gd name="adj1" fmla="val -624877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cxnSpLocks/>
          </p:cNvCxnSpPr>
          <p:nvPr/>
        </p:nvCxnSpPr>
        <p:spPr>
          <a:xfrm flipH="1">
            <a:off x="4588005" y="4825376"/>
            <a:ext cx="2542054" cy="754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cxnSpLocks/>
          </p:cNvCxnSpPr>
          <p:nvPr/>
        </p:nvCxnSpPr>
        <p:spPr>
          <a:xfrm flipH="1">
            <a:off x="4588005" y="5721952"/>
            <a:ext cx="3973191" cy="0"/>
          </a:xfrm>
          <a:prstGeom prst="line">
            <a:avLst/>
          </a:prstGeom>
          <a:ln w="28575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7016539" y="5721952"/>
            <a:ext cx="2124000" cy="0"/>
          </a:xfrm>
          <a:prstGeom prst="line">
            <a:avLst/>
          </a:prstGeom>
          <a:ln w="28575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>
            <a:cxnSpLocks/>
          </p:cNvCxnSpPr>
          <p:nvPr/>
        </p:nvCxnSpPr>
        <p:spPr>
          <a:xfrm>
            <a:off x="9140539" y="4244419"/>
            <a:ext cx="0" cy="1477533"/>
          </a:xfrm>
          <a:prstGeom prst="line">
            <a:avLst/>
          </a:prstGeom>
          <a:ln w="28575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7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884B886-F4A6-BB7F-7D17-A9863937D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5" y="3197895"/>
            <a:ext cx="2999433" cy="3428628"/>
          </a:xfrm>
          <a:prstGeom prst="rect">
            <a:avLst/>
          </a:prstGeom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Youtube</a:t>
            </a:r>
            <a:r>
              <a:rPr lang="en-US" altLang="ko-KR" dirty="0"/>
              <a:t> </a:t>
            </a:r>
            <a:r>
              <a:rPr lang="ko-KR" altLang="en-US" dirty="0"/>
              <a:t>영상 퍼오기</a:t>
            </a:r>
            <a:r>
              <a:rPr lang="en-US" altLang="ko-KR" dirty="0"/>
              <a:t>(?)</a:t>
            </a:r>
          </a:p>
          <a:p>
            <a:pPr lvl="1"/>
            <a:r>
              <a:rPr lang="en-US" altLang="ko-KR" dirty="0" err="1"/>
              <a:t>Youtube</a:t>
            </a:r>
            <a:r>
              <a:rPr lang="ko-KR" altLang="en-US" dirty="0"/>
              <a:t>에서 제공하는 </a:t>
            </a:r>
            <a:r>
              <a:rPr lang="en-US" altLang="ko-KR" dirty="0"/>
              <a:t>iframe </a:t>
            </a:r>
            <a:r>
              <a:rPr lang="ko-KR" altLang="en-US" dirty="0"/>
              <a:t>코드를 이용하여 재생 가능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Youtube</a:t>
            </a:r>
            <a:r>
              <a:rPr lang="ko-KR" altLang="en-US" dirty="0"/>
              <a:t>에서 원하는 영상 검색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 </a:t>
            </a:r>
            <a:r>
              <a:rPr lang="ko-KR" altLang="en-US" dirty="0"/>
              <a:t>멀티미디어 </a:t>
            </a:r>
            <a:r>
              <a:rPr lang="en-US" altLang="ko-KR" dirty="0"/>
              <a:t>– YouTube? (1/2)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329062" y="4213167"/>
            <a:ext cx="409303" cy="529655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HY중고딕" panose="02030600000101010101" pitchFamily="18" charset="-127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67876" y="6205761"/>
            <a:ext cx="599440" cy="474753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HY중고딕" panose="02030600000101010101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28495" y="4496656"/>
            <a:ext cx="2194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HY중고딕" panose="02030600000101010101" pitchFamily="18" charset="-127"/>
                <a:cs typeface="+mn-cs"/>
              </a:rPr>
              <a:t>공유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HY중고딕" panose="02030600000101010101" pitchFamily="18" charset="-127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HY중고딕" panose="02030600000101010101" pitchFamily="18" charset="-127"/>
                <a:cs typeface="+mn-cs"/>
                <a:sym typeface="Wingdings" panose="05000000000000000000" pitchFamily="2" charset="2"/>
              </a:rPr>
              <a:t>퍼가기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HY중고딕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64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B63F2096-5DA5-7655-74C7-42807972B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73" y="1588770"/>
            <a:ext cx="10233778" cy="3896677"/>
          </a:xfrm>
          <a:prstGeom prst="rect">
            <a:avLst/>
          </a:prstGeom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07807" y="1151730"/>
            <a:ext cx="10974592" cy="5327196"/>
          </a:xfrm>
        </p:spPr>
        <p:txBody>
          <a:bodyPr/>
          <a:lstStyle/>
          <a:p>
            <a:r>
              <a:rPr lang="en-US" altLang="ko-KR" dirty="0"/>
              <a:t>iframe </a:t>
            </a:r>
            <a:r>
              <a:rPr lang="ko-KR" altLang="en-US" dirty="0"/>
              <a:t>코드 복사 </a:t>
            </a:r>
            <a:r>
              <a:rPr lang="en-US" altLang="ko-KR" dirty="0"/>
              <a:t>&amp; HTML </a:t>
            </a:r>
            <a:r>
              <a:rPr lang="ko-KR" altLang="en-US" dirty="0"/>
              <a:t>문서에 활용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옵셜</a:t>
            </a:r>
            <a:r>
              <a:rPr lang="ko-KR" altLang="en-US" dirty="0"/>
              <a:t> 설정에 따라 코드가 변경 됨</a:t>
            </a:r>
            <a:endParaRPr lang="en-US" altLang="ko-KR" dirty="0"/>
          </a:p>
          <a:p>
            <a:pPr lvl="1"/>
            <a:r>
              <a:rPr lang="ko-KR" altLang="en-US" dirty="0"/>
              <a:t>원하는 영상을 </a:t>
            </a:r>
            <a:r>
              <a:rPr lang="en-US" altLang="ko-KR" dirty="0"/>
              <a:t>HTML </a:t>
            </a:r>
            <a:r>
              <a:rPr lang="ko-KR" altLang="en-US" dirty="0"/>
              <a:t>문서에서 </a:t>
            </a:r>
            <a:r>
              <a:rPr lang="ko-KR" altLang="en-US" dirty="0" err="1"/>
              <a:t>재생해보시오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 </a:t>
            </a:r>
            <a:r>
              <a:rPr lang="ko-KR" altLang="en-US" dirty="0"/>
              <a:t>멀티미디어 </a:t>
            </a:r>
            <a:r>
              <a:rPr lang="en-US" altLang="ko-KR" dirty="0"/>
              <a:t>– YouTube? (2/2)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752080" y="2176479"/>
            <a:ext cx="2548485" cy="1782195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HY중고딕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857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iamond Grid 16x9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000000"/>
      </a:accent1>
      <a:accent2>
        <a:srgbClr val="DF977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</Words>
  <Application>Microsoft Office PowerPoint</Application>
  <PresentationFormat>와이드스크린</PresentationFormat>
  <Paragraphs>51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Arial</vt:lpstr>
      <vt:lpstr>Consolas</vt:lpstr>
      <vt:lpstr>Wingdings</vt:lpstr>
      <vt:lpstr>Office 테마</vt:lpstr>
      <vt:lpstr>Diamond Grid 16x9</vt:lpstr>
      <vt:lpstr>1)테이블</vt:lpstr>
      <vt:lpstr>2) 링크 - 북마크</vt:lpstr>
      <vt:lpstr>2) 링크 - 북마크</vt:lpstr>
      <vt:lpstr>3) 멀티미디어 – YouTube? (1/2)</vt:lpstr>
      <vt:lpstr>3) 멀티미디어 – YouTube?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정진우</dc:creator>
  <cp:lastModifiedBy>정진우</cp:lastModifiedBy>
  <cp:revision>2</cp:revision>
  <dcterms:created xsi:type="dcterms:W3CDTF">2026-03-11T19:32:59Z</dcterms:created>
  <dcterms:modified xsi:type="dcterms:W3CDTF">2026-03-11T19:36:52Z</dcterms:modified>
</cp:coreProperties>
</file>