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61" r:id="rId3"/>
    <p:sldId id="423" r:id="rId4"/>
    <p:sldId id="276" r:id="rId5"/>
    <p:sldId id="424" r:id="rId6"/>
    <p:sldId id="277" r:id="rId7"/>
    <p:sldId id="425" r:id="rId8"/>
    <p:sldId id="426" r:id="rId9"/>
    <p:sldId id="427" r:id="rId10"/>
    <p:sldId id="428" r:id="rId11"/>
    <p:sldId id="429" r:id="rId12"/>
    <p:sldId id="430" r:id="rId13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만든 이 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F254"/>
    <a:srgbClr val="47CFFF"/>
    <a:srgbClr val="C39BE1"/>
    <a:srgbClr val="960C16"/>
    <a:srgbClr val="0211A0"/>
    <a:srgbClr val="FA6E6E"/>
    <a:srgbClr val="E69434"/>
    <a:srgbClr val="F474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88706" autoAdjust="0"/>
  </p:normalViewPr>
  <p:slideViewPr>
    <p:cSldViewPr snapToGrid="0">
      <p:cViewPr varScale="1">
        <p:scale>
          <a:sx n="83" d="100"/>
          <a:sy n="83" d="100"/>
        </p:scale>
        <p:origin x="114" y="1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58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31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r">
              <a:defRPr sz="1300"/>
            </a:lvl1pPr>
          </a:lstStyle>
          <a:p>
            <a:fld id="{59041DB8-B66F-4DC8-A96E-33677E0F90FF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r">
              <a:defRPr sz="13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r">
              <a:defRPr sz="1300"/>
            </a:lvl1pPr>
          </a:lstStyle>
          <a:p>
            <a:fld id="{DEB49C4A-65AC-492D-9701-81B46C3AD0E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90" tIns="47845" rIns="95690" bIns="4784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6"/>
            <a:ext cx="5445760" cy="3354527"/>
          </a:xfrm>
          <a:prstGeom prst="rect">
            <a:avLst/>
          </a:prstGeom>
        </p:spPr>
        <p:txBody>
          <a:bodyPr vert="horz" lIns="95690" tIns="47845" rIns="95690" bIns="47845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r">
              <a:defRPr sz="13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686180" y="24218"/>
            <a:ext cx="12192003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194" y="1269812"/>
            <a:ext cx="10972012" cy="3383280"/>
          </a:xfrm>
        </p:spPr>
        <p:txBody>
          <a:bodyPr anchor="ctr">
            <a:normAutofit/>
          </a:bodyPr>
          <a:lstStyle>
            <a:lvl1pPr algn="l">
              <a:lnSpc>
                <a:spcPct val="76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9822" y="5061089"/>
            <a:ext cx="5489885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-75728" y="6572172"/>
            <a:ext cx="580025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</a:t>
            </a:r>
          </a:p>
        </p:txBody>
      </p:sp>
      <p:cxnSp>
        <p:nvCxnSpPr>
          <p:cNvPr id="59" name="Straight Connector 58"/>
          <p:cNvCxnSpPr>
            <a:cxnSpLocks/>
          </p:cNvCxnSpPr>
          <p:nvPr userDrawn="1"/>
        </p:nvCxnSpPr>
        <p:spPr>
          <a:xfrm>
            <a:off x="9687819" y="4964468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 userDrawn="1"/>
        </p:nvSpPr>
        <p:spPr>
          <a:xfrm>
            <a:off x="7528058" y="6567506"/>
            <a:ext cx="473707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</a:rPr>
              <a:t>Seoul National University of Science and Technology</a:t>
            </a:r>
          </a:p>
        </p:txBody>
      </p:sp>
      <p:pic>
        <p:nvPicPr>
          <p:cNvPr id="1026" name="Picture 2" descr="서울과학기술대학교 로고">
            <a:extLst>
              <a:ext uri="{FF2B5EF4-FFF2-40B4-BE49-F238E27FC236}">
                <a16:creationId xmlns:a16="http://schemas.microsoft.com/office/drawing/2014/main" id="{74C2DAE3-3DE3-4068-80F9-51F987532B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942" y="4397"/>
            <a:ext cx="2774196" cy="61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Connector 58">
            <a:extLst>
              <a:ext uri="{FF2B5EF4-FFF2-40B4-BE49-F238E27FC236}">
                <a16:creationId xmlns:a16="http://schemas.microsoft.com/office/drawing/2014/main" id="{D1841837-60C8-4CAD-AA2C-8F98832A3F49}"/>
              </a:ext>
            </a:extLst>
          </p:cNvPr>
          <p:cNvCxnSpPr>
            <a:cxnSpLocks/>
          </p:cNvCxnSpPr>
          <p:nvPr userDrawn="1"/>
        </p:nvCxnSpPr>
        <p:spPr>
          <a:xfrm>
            <a:off x="8464779" y="4960100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58">
            <a:extLst>
              <a:ext uri="{FF2B5EF4-FFF2-40B4-BE49-F238E27FC236}">
                <a16:creationId xmlns:a16="http://schemas.microsoft.com/office/drawing/2014/main" id="{DCA3FC18-41D5-4E29-9808-35E62EC5ED11}"/>
              </a:ext>
            </a:extLst>
          </p:cNvPr>
          <p:cNvCxnSpPr>
            <a:cxnSpLocks/>
          </p:cNvCxnSpPr>
          <p:nvPr userDrawn="1"/>
        </p:nvCxnSpPr>
        <p:spPr>
          <a:xfrm>
            <a:off x="7241741" y="4953936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58">
            <a:extLst>
              <a:ext uri="{FF2B5EF4-FFF2-40B4-BE49-F238E27FC236}">
                <a16:creationId xmlns:a16="http://schemas.microsoft.com/office/drawing/2014/main" id="{DD88A32C-EC5C-4C7D-AB0E-BE2BA36C36CA}"/>
              </a:ext>
            </a:extLst>
          </p:cNvPr>
          <p:cNvCxnSpPr>
            <a:cxnSpLocks/>
          </p:cNvCxnSpPr>
          <p:nvPr userDrawn="1"/>
        </p:nvCxnSpPr>
        <p:spPr>
          <a:xfrm>
            <a:off x="7844374" y="5602766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58">
            <a:extLst>
              <a:ext uri="{FF2B5EF4-FFF2-40B4-BE49-F238E27FC236}">
                <a16:creationId xmlns:a16="http://schemas.microsoft.com/office/drawing/2014/main" id="{88EF6287-0C9B-4CFA-87CA-436C952B1C03}"/>
              </a:ext>
            </a:extLst>
          </p:cNvPr>
          <p:cNvCxnSpPr>
            <a:cxnSpLocks/>
          </p:cNvCxnSpPr>
          <p:nvPr userDrawn="1"/>
        </p:nvCxnSpPr>
        <p:spPr>
          <a:xfrm>
            <a:off x="6621334" y="5596811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58">
            <a:extLst>
              <a:ext uri="{FF2B5EF4-FFF2-40B4-BE49-F238E27FC236}">
                <a16:creationId xmlns:a16="http://schemas.microsoft.com/office/drawing/2014/main" id="{734EA8C1-8186-417D-88B4-4FFDF0B00D31}"/>
              </a:ext>
            </a:extLst>
          </p:cNvPr>
          <p:cNvCxnSpPr>
            <a:cxnSpLocks/>
          </p:cNvCxnSpPr>
          <p:nvPr userDrawn="1"/>
        </p:nvCxnSpPr>
        <p:spPr>
          <a:xfrm>
            <a:off x="5398295" y="5590647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59329"/>
            <a:ext cx="10974592" cy="5327196"/>
          </a:xfrm>
        </p:spPr>
        <p:txBody>
          <a:bodyPr>
            <a:normAutofit/>
          </a:bodyPr>
          <a:lstStyle>
            <a:lvl1pPr marL="228600" indent="-228600">
              <a:buClr>
                <a:srgbClr val="FA6E6E"/>
              </a:buClr>
              <a:buFont typeface="Arial" panose="020B0604020202020204" pitchFamily="34" charset="0"/>
              <a:buChar char="■"/>
              <a:defRPr sz="2400"/>
            </a:lvl1pPr>
            <a:lvl2pPr marL="538163" indent="-263525">
              <a:lnSpc>
                <a:spcPct val="100000"/>
              </a:lnSpc>
              <a:buClr>
                <a:srgbClr val="FA6E6E"/>
              </a:buClr>
              <a:buFont typeface="Wingdings" panose="05000000000000000000" pitchFamily="2" charset="2"/>
              <a:buChar char="Ø"/>
              <a:defRPr sz="2000"/>
            </a:lvl2pPr>
            <a:lvl3pPr marL="685800" indent="-179388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•"/>
              <a:defRPr sz="1800"/>
            </a:lvl3pPr>
            <a:lvl4pPr marL="914400" indent="-182880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4pPr>
            <a:lvl5pPr marL="1143000" indent="-179388"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09601" y="3603"/>
            <a:ext cx="10974592" cy="96173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273117" y="6654417"/>
            <a:ext cx="918883" cy="222436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6593821"/>
            <a:ext cx="12192000" cy="3314"/>
          </a:xfrm>
          <a:prstGeom prst="line">
            <a:avLst/>
          </a:prstGeom>
          <a:ln w="63500" cmpd="tri">
            <a:gradFill flip="none" rotWithShape="1">
              <a:gsLst>
                <a:gs pos="14000">
                  <a:schemeClr val="accent1">
                    <a:lumMod val="5000"/>
                    <a:lumOff val="95000"/>
                  </a:schemeClr>
                </a:gs>
                <a:gs pos="72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8">
            <a:extLst>
              <a:ext uri="{FF2B5EF4-FFF2-40B4-BE49-F238E27FC236}">
                <a16:creationId xmlns:a16="http://schemas.microsoft.com/office/drawing/2014/main" id="{C404ACA3-99F8-4DE1-BF6A-C1BAE32ADC6F}"/>
              </a:ext>
            </a:extLst>
          </p:cNvPr>
          <p:cNvCxnSpPr>
            <a:cxnSpLocks/>
          </p:cNvCxnSpPr>
          <p:nvPr userDrawn="1"/>
        </p:nvCxnSpPr>
        <p:spPr>
          <a:xfrm>
            <a:off x="8117516" y="1047499"/>
            <a:ext cx="4080000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20B13FD4-5468-487B-A2ED-5EEAB4D770CE}"/>
              </a:ext>
            </a:extLst>
          </p:cNvPr>
          <p:cNvCxnSpPr>
            <a:cxnSpLocks/>
          </p:cNvCxnSpPr>
          <p:nvPr userDrawn="1"/>
        </p:nvCxnSpPr>
        <p:spPr>
          <a:xfrm>
            <a:off x="4034380" y="1043541"/>
            <a:ext cx="4080000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C01815BC-6AD3-4DF7-93D8-79220C64C17F}"/>
              </a:ext>
            </a:extLst>
          </p:cNvPr>
          <p:cNvCxnSpPr>
            <a:cxnSpLocks/>
          </p:cNvCxnSpPr>
          <p:nvPr userDrawn="1"/>
        </p:nvCxnSpPr>
        <p:spPr>
          <a:xfrm>
            <a:off x="-1" y="1037591"/>
            <a:ext cx="4032000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A9DF8264-D112-4666-A363-B02ABAD1F337}"/>
              </a:ext>
            </a:extLst>
          </p:cNvPr>
          <p:cNvSpPr/>
          <p:nvPr userDrawn="1"/>
        </p:nvSpPr>
        <p:spPr>
          <a:xfrm>
            <a:off x="-75728" y="6598050"/>
            <a:ext cx="62867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Lab., Seoul National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4/21/2025</a:t>
            </a:fld>
            <a:endParaRPr lang="en-US"/>
          </a:p>
        </p:txBody>
      </p: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F629-ECA2-4CF3-B790-9D9BDED98269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8"/>
            <a:ext cx="1687287" cy="5301343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8"/>
            <a:ext cx="7587344" cy="5301343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5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2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2" y="6289679"/>
            <a:ext cx="6128031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Data Engineering Lab., </a:t>
            </a:r>
            <a:r>
              <a:rPr lang="en-US" dirty="0" err="1"/>
              <a:t>Kumoh</a:t>
            </a:r>
            <a:r>
              <a:rPr lang="en-US" dirty="0"/>
              <a:t> National </a:t>
            </a:r>
            <a:r>
              <a:rPr lang="en-US" dirty="0" err="1"/>
              <a:t>Institue</a:t>
            </a:r>
            <a:r>
              <a:rPr lang="en-US" dirty="0"/>
              <a:t>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3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269812"/>
            <a:ext cx="9143999" cy="3383280"/>
          </a:xfrm>
        </p:spPr>
        <p:txBody>
          <a:bodyPr/>
          <a:lstStyle/>
          <a:p>
            <a:pPr algn="ctr"/>
            <a:r>
              <a:rPr lang="en-US" altLang="ko-KR" dirty="0"/>
              <a:t>Web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Midterm</a:t>
            </a:r>
            <a:r>
              <a:rPr lang="ko-KR" altLang="en-US" dirty="0"/>
              <a:t> </a:t>
            </a:r>
            <a:r>
              <a:rPr lang="en-US" altLang="ko-KR" dirty="0"/>
              <a:t>Exam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C71E46-2F31-F832-5B3D-B582C138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제한시간</a:t>
            </a:r>
            <a:r>
              <a:rPr lang="en-US" altLang="ko-KR" dirty="0"/>
              <a:t>: 100</a:t>
            </a:r>
            <a:r>
              <a:rPr lang="ko-KR" altLang="en-US" dirty="0"/>
              <a:t>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첨부된 압축파일 압축해제</a:t>
            </a:r>
            <a:endParaRPr lang="en-US" altLang="ko-KR" dirty="0"/>
          </a:p>
          <a:p>
            <a:pPr lvl="1"/>
            <a:r>
              <a:rPr lang="en-US" altLang="ko-KR" dirty="0"/>
              <a:t>0~4.html (</a:t>
            </a:r>
            <a:r>
              <a:rPr lang="ko-KR" altLang="en-US" dirty="0"/>
              <a:t>각 문제별 </a:t>
            </a:r>
            <a:r>
              <a:rPr lang="en-US" altLang="ko-KR" dirty="0"/>
              <a:t>html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본인 </a:t>
            </a:r>
            <a:r>
              <a:rPr lang="ko-KR" altLang="en-US" dirty="0" err="1"/>
              <a:t>작업폴더에</a:t>
            </a:r>
            <a:r>
              <a:rPr lang="ko-KR" altLang="en-US" dirty="0"/>
              <a:t> 위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-US" altLang="ko-KR" dirty="0"/>
              <a:t>html </a:t>
            </a:r>
            <a:r>
              <a:rPr lang="ko-KR" altLang="en-US" dirty="0"/>
              <a:t>파일 복사 후 시험 진행</a:t>
            </a:r>
            <a:endParaRPr lang="en-US" altLang="ko-KR" dirty="0"/>
          </a:p>
          <a:p>
            <a:pPr lvl="2"/>
            <a:r>
              <a:rPr lang="ko-KR" altLang="en-US" dirty="0"/>
              <a:t>또는 </a:t>
            </a:r>
            <a:r>
              <a:rPr lang="en-US" altLang="ko-KR" dirty="0"/>
              <a:t>exam </a:t>
            </a:r>
            <a:r>
              <a:rPr lang="ko-KR" altLang="en-US" dirty="0"/>
              <a:t>폴더를 바탕으로 진행해도 무방함</a:t>
            </a:r>
            <a:endParaRPr lang="en-US" altLang="ko-KR" dirty="0"/>
          </a:p>
          <a:p>
            <a:pPr lvl="1"/>
            <a:r>
              <a:rPr lang="ko-KR" altLang="en-US" dirty="0"/>
              <a:t>문제의 모든</a:t>
            </a:r>
            <a:r>
              <a:rPr lang="en-US" altLang="ko-KR" dirty="0"/>
              <a:t> </a:t>
            </a:r>
            <a:r>
              <a:rPr lang="ko-KR" altLang="en-US" dirty="0"/>
              <a:t>예제는 </a:t>
            </a:r>
            <a:r>
              <a:rPr lang="en-US" altLang="ko-KR" dirty="0" err="1"/>
              <a:t>LiveServer</a:t>
            </a:r>
            <a:r>
              <a:rPr lang="en-US" altLang="ko-KR" dirty="0"/>
              <a:t> (Chrome)</a:t>
            </a:r>
            <a:r>
              <a:rPr lang="ko-KR" altLang="en-US" dirty="0"/>
              <a:t>에서 실행된 예제임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제출 시 </a:t>
            </a:r>
            <a:r>
              <a:rPr lang="ko-KR" altLang="en-US" dirty="0" err="1"/>
              <a:t>작업폴더를</a:t>
            </a:r>
            <a:r>
              <a:rPr lang="ko-KR" altLang="en-US" dirty="0"/>
              <a:t> 통째로 압축</a:t>
            </a:r>
            <a:r>
              <a:rPr lang="en-US" altLang="ko-KR" dirty="0"/>
              <a:t>(zip)</a:t>
            </a:r>
            <a:r>
              <a:rPr lang="ko-KR" altLang="en-US" dirty="0"/>
              <a:t>하여 </a:t>
            </a:r>
            <a:r>
              <a:rPr lang="en-US" altLang="ko-KR" dirty="0" err="1"/>
              <a:t>eClass</a:t>
            </a:r>
            <a:r>
              <a:rPr lang="ko-KR" altLang="en-US" dirty="0"/>
              <a:t>에 제출</a:t>
            </a:r>
            <a:endParaRPr lang="en-US" altLang="ko-KR" dirty="0"/>
          </a:p>
          <a:p>
            <a:pPr lvl="1"/>
            <a:r>
              <a:rPr lang="ko-KR" altLang="en-US" dirty="0"/>
              <a:t>제출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과제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중간고사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미완성 코드에도 부분 점수 부여함</a:t>
            </a:r>
            <a:endParaRPr lang="en-US" altLang="ko-KR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75CCA53-3901-BDBD-4118-1FC1DAC9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AC9E3-E4CF-6041-1326-7396011A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3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8BF894-ACB2-1793-8723-1841DC93C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제시된 화면과 동일하게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표시되는 웹 페이지를 </a:t>
            </a:r>
            <a:br>
              <a:rPr lang="en-US" altLang="ko-KR" dirty="0"/>
            </a:b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0.html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작성할 것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스타일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시트는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추가할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수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없음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주소창의 내용을 제외하고 최대한</a:t>
            </a:r>
            <a:br>
              <a:rPr lang="en-US" altLang="ko-KR" dirty="0"/>
            </a:br>
            <a:r>
              <a:rPr lang="ko-KR" altLang="en-US" dirty="0"/>
              <a:t>모든 내용을 동일</a:t>
            </a:r>
            <a:r>
              <a:rPr lang="en-US" altLang="ko-KR" dirty="0"/>
              <a:t>/</a:t>
            </a:r>
            <a:r>
              <a:rPr lang="ko-KR" altLang="en-US" dirty="0"/>
              <a:t>유사하게 표현</a:t>
            </a:r>
            <a:endParaRPr lang="en-US" altLang="ko-KR" dirty="0"/>
          </a:p>
          <a:p>
            <a:pPr lvl="1"/>
            <a:r>
              <a:rPr lang="en-US" altLang="ko-KR" dirty="0"/>
              <a:t>“zip” </a:t>
            </a:r>
            <a:r>
              <a:rPr lang="ko-KR" altLang="en-US" dirty="0"/>
              <a:t>키워드에 마우스를 가져가면</a:t>
            </a:r>
            <a:br>
              <a:rPr lang="en-US" altLang="ko-KR" dirty="0"/>
            </a:br>
            <a:r>
              <a:rPr lang="en-US" altLang="ko-KR" dirty="0"/>
              <a:t>“ZIP archive”</a:t>
            </a:r>
            <a:r>
              <a:rPr lang="ko-KR" altLang="en-US" dirty="0"/>
              <a:t>라는 </a:t>
            </a:r>
            <a:r>
              <a:rPr lang="ko-KR" altLang="en-US" dirty="0" err="1"/>
              <a:t>툴팁이</a:t>
            </a:r>
            <a:r>
              <a:rPr lang="ko-KR" altLang="en-US" dirty="0"/>
              <a:t> 표시</a:t>
            </a:r>
            <a:endParaRPr lang="en-US" altLang="ko-KR" dirty="0"/>
          </a:p>
          <a:p>
            <a:pPr lvl="2"/>
            <a:r>
              <a:rPr lang="ko-KR" altLang="en-US" dirty="0"/>
              <a:t>다음장의 실행 동영상 참고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AFC57F-39BD-F5CC-3BE6-E26BAC27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#0 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AC6DF-2662-F4C0-6606-57447489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B2414C-C439-E3FA-8B3D-7AFBF26D6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62" y="371475"/>
            <a:ext cx="660082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1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025-04-20 11 02 46">
            <a:hlinkClick r:id="" action="ppaction://media"/>
            <a:extLst>
              <a:ext uri="{FF2B5EF4-FFF2-40B4-BE49-F238E27FC236}">
                <a16:creationId xmlns:a16="http://schemas.microsoft.com/office/drawing/2014/main" id="{2E4A203F-D2F6-404A-8840-C1DA9968FD5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66897" y="349579"/>
            <a:ext cx="7265661" cy="6080688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06EE61CA-D47F-3512-1F41-64975B62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#0 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FB7ED-AD5F-6F29-1233-331F1D44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03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07F75F6-3D8B-EAF8-3B70-A750E8D4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 그림과 동일한 화면을 구성하기 위한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１</a:t>
            </a:r>
            <a:r>
              <a:rPr lang="en-US" altLang="ko-KR" dirty="0"/>
              <a:t>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CSS</a:t>
            </a:r>
            <a:r>
              <a:rPr lang="ko-KR" altLang="en-US" dirty="0">
                <a:solidFill>
                  <a:srgbClr val="FF0000"/>
                </a:solidFill>
              </a:rPr>
              <a:t>만 추가 가능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&lt;body&gt; </a:t>
            </a:r>
            <a:r>
              <a:rPr lang="ko-KR" altLang="en-US" dirty="0"/>
              <a:t>영역은 수정 불가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16918D-A1AE-E2D8-F5F3-80371E43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#1 (10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9FA3A-9AB7-45AD-AE27-EED0E39B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07F2FE-28E3-FB7A-36E9-2FE7F17E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958" y="1901167"/>
            <a:ext cx="2895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6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3E696AE-B862-37A2-EDD2-A177D3AE1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59329"/>
            <a:ext cx="11370196" cy="5327196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다음 장의 화면과 동일하게 구성할 수 있도록</a:t>
            </a:r>
            <a:r>
              <a:rPr lang="en-US" altLang="ko-KR" dirty="0"/>
              <a:t>,</a:t>
            </a:r>
            <a:r>
              <a:rPr lang="ko-KR" altLang="en-US" dirty="0"/>
              <a:t> 제시된 </a:t>
            </a:r>
            <a:r>
              <a:rPr lang="en-US" altLang="ko-KR" dirty="0"/>
              <a:t>2.html </a:t>
            </a:r>
            <a:r>
              <a:rPr lang="ko-KR" altLang="en-US" dirty="0"/>
              <a:t>파일을 </a:t>
            </a:r>
            <a:r>
              <a:rPr lang="ko-KR" altLang="en-US" dirty="0" err="1"/>
              <a:t>수정하시오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Submission Deadline </a:t>
            </a:r>
            <a:r>
              <a:rPr lang="ko-KR" altLang="en-US" dirty="0"/>
              <a:t>열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conference</a:t>
            </a:r>
            <a:r>
              <a:rPr lang="ko-KR" altLang="en-US" dirty="0"/>
              <a:t>에 해당하는 셀은 병합하여 표기</a:t>
            </a:r>
            <a:endParaRPr lang="en-US" altLang="ko-KR" dirty="0"/>
          </a:p>
          <a:p>
            <a:pPr lvl="1"/>
            <a:r>
              <a:rPr lang="en-US" altLang="ko-KR" dirty="0"/>
              <a:t>Status </a:t>
            </a:r>
            <a:r>
              <a:rPr lang="ko-KR" altLang="en-US" dirty="0"/>
              <a:t>열</a:t>
            </a:r>
            <a:endParaRPr lang="en-US" altLang="ko-KR" dirty="0"/>
          </a:p>
          <a:p>
            <a:pPr lvl="2"/>
            <a:r>
              <a:rPr lang="en-US" altLang="ko-KR" dirty="0"/>
              <a:t>Complete, accepted, not accepted</a:t>
            </a:r>
            <a:r>
              <a:rPr lang="ko-KR" altLang="en-US" dirty="0"/>
              <a:t>에 따라 글자의 색상</a:t>
            </a:r>
            <a:r>
              <a:rPr lang="en-US" altLang="ko-KR" dirty="0"/>
              <a:t>, </a:t>
            </a:r>
            <a:r>
              <a:rPr lang="ko-KR" altLang="en-US" dirty="0"/>
              <a:t>굵기를 다르게 표현 </a:t>
            </a:r>
            <a:r>
              <a:rPr lang="en-US" altLang="ko-KR" dirty="0"/>
              <a:t>(</a:t>
            </a:r>
            <a:r>
              <a:rPr lang="en-US" altLang="ko-KR" b="1" u="sng" dirty="0">
                <a:solidFill>
                  <a:srgbClr val="FF0000"/>
                </a:solidFill>
              </a:rPr>
              <a:t>inline </a:t>
            </a:r>
            <a:r>
              <a:rPr lang="ko-KR" altLang="en-US" b="1" u="sng" dirty="0">
                <a:solidFill>
                  <a:srgbClr val="FF0000"/>
                </a:solidFill>
              </a:rPr>
              <a:t>스타일</a:t>
            </a:r>
            <a:r>
              <a:rPr lang="ko-KR" altLang="en-US" dirty="0"/>
              <a:t> 선언불가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Title </a:t>
            </a:r>
            <a:r>
              <a:rPr lang="ko-KR" altLang="en-US" dirty="0"/>
              <a:t>열</a:t>
            </a:r>
            <a:endParaRPr lang="en-US" altLang="ko-KR" dirty="0"/>
          </a:p>
          <a:p>
            <a:pPr lvl="2"/>
            <a:r>
              <a:rPr lang="ko-KR" altLang="en-US" b="1" u="sng" dirty="0">
                <a:solidFill>
                  <a:srgbClr val="FF0000"/>
                </a:solidFill>
              </a:rPr>
              <a:t>구조선택자</a:t>
            </a:r>
            <a:r>
              <a:rPr lang="ko-KR" altLang="en-US" dirty="0"/>
              <a:t>를 이용하여 </a:t>
            </a:r>
            <a:r>
              <a:rPr lang="en-US" altLang="ko-KR" dirty="0"/>
              <a:t>bold</a:t>
            </a:r>
            <a:r>
              <a:rPr lang="ko-KR" altLang="en-US" dirty="0"/>
              <a:t>체로 표현</a:t>
            </a:r>
            <a:endParaRPr lang="en-US" altLang="ko-KR" dirty="0"/>
          </a:p>
          <a:p>
            <a:pPr lvl="1"/>
            <a:r>
              <a:rPr lang="en-US" altLang="ko-KR" dirty="0"/>
              <a:t>Summary </a:t>
            </a:r>
            <a:r>
              <a:rPr lang="ko-KR" altLang="en-US" dirty="0"/>
              <a:t>행 추가</a:t>
            </a:r>
            <a:endParaRPr lang="en-US" altLang="ko-KR" dirty="0"/>
          </a:p>
          <a:p>
            <a:pPr lvl="2"/>
            <a:r>
              <a:rPr lang="ko-KR" altLang="en-US" dirty="0"/>
              <a:t>텍스트는 주어진 내용을 그대로 사용</a:t>
            </a:r>
            <a:endParaRPr lang="en-US" altLang="ko-KR" dirty="0"/>
          </a:p>
          <a:p>
            <a:pPr lvl="2"/>
            <a:r>
              <a:rPr lang="en-US" altLang="ko-KR" b="1" u="sng" dirty="0">
                <a:solidFill>
                  <a:srgbClr val="FF0000"/>
                </a:solidFill>
              </a:rPr>
              <a:t>inline </a:t>
            </a:r>
            <a:r>
              <a:rPr lang="ko-KR" altLang="en-US" b="1" u="sng" dirty="0">
                <a:solidFill>
                  <a:srgbClr val="FF0000"/>
                </a:solidFill>
              </a:rPr>
              <a:t>스타일</a:t>
            </a:r>
            <a:r>
              <a:rPr lang="ko-KR" altLang="en-US" dirty="0"/>
              <a:t>을 선언하여 스타일을 적용하고</a:t>
            </a:r>
            <a:r>
              <a:rPr lang="en-US" altLang="ko-KR" dirty="0"/>
              <a:t>, </a:t>
            </a:r>
            <a:r>
              <a:rPr lang="ko-KR" altLang="en-US" dirty="0"/>
              <a:t>배경색상은 </a:t>
            </a:r>
            <a:r>
              <a:rPr lang="en-US" altLang="ko-KR" dirty="0"/>
              <a:t>f4f4f4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행씩 건너뛰며 배경색상을 다르게 표현 </a:t>
            </a:r>
            <a:endParaRPr lang="en-US" altLang="ko-KR" dirty="0"/>
          </a:p>
          <a:p>
            <a:pPr lvl="2"/>
            <a:r>
              <a:rPr lang="ko-KR" altLang="en-US" b="1" u="sng" dirty="0">
                <a:solidFill>
                  <a:srgbClr val="FF0000"/>
                </a:solidFill>
              </a:rPr>
              <a:t>구조선택자</a:t>
            </a:r>
            <a:r>
              <a:rPr lang="ko-KR" altLang="en-US" dirty="0"/>
              <a:t>를 이용하여 변경하며</a:t>
            </a:r>
            <a:r>
              <a:rPr lang="en-US" altLang="ko-KR" dirty="0"/>
              <a:t>, </a:t>
            </a:r>
            <a:r>
              <a:rPr lang="ko-KR" altLang="en-US" dirty="0"/>
              <a:t>색상이 변경되는 행의 배경색상은 </a:t>
            </a:r>
            <a:r>
              <a:rPr lang="en-US" altLang="ko-KR" dirty="0"/>
              <a:t>#e3efff</a:t>
            </a:r>
            <a:r>
              <a:rPr lang="ko-KR" altLang="en-US" dirty="0"/>
              <a:t> 사용 </a:t>
            </a:r>
            <a:endParaRPr lang="en-US" altLang="ko-KR" dirty="0"/>
          </a:p>
          <a:p>
            <a:pPr lvl="2"/>
            <a:r>
              <a:rPr lang="ko-KR" altLang="en-US" dirty="0"/>
              <a:t>단</a:t>
            </a:r>
            <a:r>
              <a:rPr lang="en-US" altLang="ko-KR" dirty="0"/>
              <a:t>, submission deadline</a:t>
            </a:r>
            <a:r>
              <a:rPr lang="ko-KR" altLang="en-US" dirty="0"/>
              <a:t> 열에 해당하는 셀은 흰색 바탕을 유지할 수 있도록 추가적인 스타일 선언필요 </a:t>
            </a:r>
            <a:br>
              <a:rPr lang="en-US" altLang="ko-KR" dirty="0"/>
            </a:br>
            <a:r>
              <a:rPr lang="en-US" altLang="ko-KR" u="sng" dirty="0">
                <a:solidFill>
                  <a:srgbClr val="FF0000"/>
                </a:solidFill>
              </a:rPr>
              <a:t>(</a:t>
            </a:r>
            <a:r>
              <a:rPr lang="ko-KR" altLang="en-US" u="sng" dirty="0">
                <a:solidFill>
                  <a:srgbClr val="FF0000"/>
                </a:solidFill>
              </a:rPr>
              <a:t>단</a:t>
            </a:r>
            <a:r>
              <a:rPr lang="en-US" altLang="ko-KR" u="sng" dirty="0">
                <a:solidFill>
                  <a:srgbClr val="FF0000"/>
                </a:solidFill>
              </a:rPr>
              <a:t>, </a:t>
            </a:r>
            <a:r>
              <a:rPr lang="ko-KR" altLang="en-US" u="sng" dirty="0">
                <a:solidFill>
                  <a:srgbClr val="FF0000"/>
                </a:solidFill>
              </a:rPr>
              <a:t>이를 위해 </a:t>
            </a:r>
            <a:r>
              <a:rPr lang="en-US" altLang="ko-KR" u="sng" dirty="0">
                <a:solidFill>
                  <a:srgbClr val="FF0000"/>
                </a:solidFill>
              </a:rPr>
              <a:t>ID/Class </a:t>
            </a:r>
            <a:r>
              <a:rPr lang="ko-KR" altLang="en-US" u="sng" dirty="0" err="1">
                <a:solidFill>
                  <a:srgbClr val="FF0000"/>
                </a:solidFill>
              </a:rPr>
              <a:t>선택자</a:t>
            </a:r>
            <a:r>
              <a:rPr lang="ko-KR" altLang="en-US" u="sng" dirty="0">
                <a:solidFill>
                  <a:srgbClr val="FF0000"/>
                </a:solidFill>
              </a:rPr>
              <a:t> 활용 불가</a:t>
            </a:r>
            <a:r>
              <a:rPr lang="en-US" altLang="ko-KR" u="sng" dirty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ko-KR" altLang="en-US" dirty="0"/>
              <a:t>동일 </a:t>
            </a:r>
            <a:r>
              <a:rPr lang="en-US" altLang="ko-KR" dirty="0"/>
              <a:t>Conference</a:t>
            </a:r>
            <a:r>
              <a:rPr lang="ko-KR" altLang="en-US" dirty="0"/>
              <a:t>에는 항상 최소 </a:t>
            </a:r>
            <a:r>
              <a:rPr lang="en-US" altLang="ko-KR" dirty="0"/>
              <a:t>2</a:t>
            </a:r>
            <a:r>
              <a:rPr lang="ko-KR" altLang="en-US" dirty="0"/>
              <a:t>개 이상의 </a:t>
            </a:r>
            <a:r>
              <a:rPr lang="en-US" altLang="ko-KR" dirty="0"/>
              <a:t>Submission</a:t>
            </a:r>
            <a:r>
              <a:rPr lang="ko-KR" altLang="en-US" dirty="0"/>
              <a:t>이 존재하여 셀 병합이 항상 필요하다고 가정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C93D92-2006-2741-64F1-53B6E434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#2 (25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DB0BF-0D0E-141D-FC13-165CF104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4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684E-FAC9-1EE2-83B4-26D14E95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A8DE937-2697-7D82-8DCF-F632B3C1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#2 (25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4C81D-E625-64E2-E127-1B424E7B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" name="내용 개체 틀 19">
            <a:extLst>
              <a:ext uri="{FF2B5EF4-FFF2-40B4-BE49-F238E27FC236}">
                <a16:creationId xmlns:a16="http://schemas.microsoft.com/office/drawing/2014/main" id="{E9779E66-A739-A0D9-ADDA-BC66A4363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930" y="1158875"/>
            <a:ext cx="10057727" cy="5327650"/>
          </a:xfrm>
        </p:spPr>
      </p:pic>
    </p:spTree>
    <p:extLst>
      <p:ext uri="{BB962C8B-B14F-4D97-AF65-F5344CB8AC3E}">
        <p14:creationId xmlns:p14="http://schemas.microsoft.com/office/powerpoint/2010/main" val="48896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2E50AA-313A-319A-3B9C-CE918F99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다음장의 영상과 같이 동작하는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3.html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스타일 관련 사항</a:t>
            </a:r>
            <a:endParaRPr lang="en-US" altLang="ko-KR" dirty="0"/>
          </a:p>
          <a:p>
            <a:pPr lvl="1"/>
            <a:r>
              <a:rPr lang="ko-KR" altLang="en-US" dirty="0"/>
              <a:t>영상 내 각각의 박스</a:t>
            </a:r>
            <a:endParaRPr lang="en-US" altLang="ko-KR" dirty="0"/>
          </a:p>
          <a:p>
            <a:pPr lvl="2"/>
            <a:r>
              <a:rPr lang="ko-KR" altLang="en-US" dirty="0"/>
              <a:t>가로</a:t>
            </a:r>
            <a:r>
              <a:rPr lang="en-US" altLang="ko-KR" dirty="0"/>
              <a:t>:250px, </a:t>
            </a:r>
            <a:r>
              <a:rPr lang="ko-KR" altLang="en-US" dirty="0"/>
              <a:t>세로</a:t>
            </a:r>
            <a:r>
              <a:rPr lang="en-US" altLang="ko-KR" dirty="0"/>
              <a:t>:100px (margin/padding/border: 0)</a:t>
            </a:r>
          </a:p>
          <a:p>
            <a:pPr lvl="1"/>
            <a:r>
              <a:rPr lang="ko-KR" altLang="en-US" dirty="0"/>
              <a:t>영상 내 글자 </a:t>
            </a:r>
            <a:endParaRPr lang="en-US" altLang="ko-KR" dirty="0"/>
          </a:p>
          <a:p>
            <a:pPr lvl="2"/>
            <a:r>
              <a:rPr lang="en-US" altLang="ko-KR" dirty="0"/>
              <a:t>Bold </a:t>
            </a:r>
            <a:r>
              <a:rPr lang="ko-KR" altLang="en-US" dirty="0"/>
              <a:t>효과 </a:t>
            </a:r>
            <a:r>
              <a:rPr lang="en-US" altLang="ko-KR" dirty="0"/>
              <a:t>+ 20px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1"/>
            <a:r>
              <a:rPr lang="ko-KR" altLang="en-US" dirty="0"/>
              <a:t>박스의 이동 거리는 이동을 확인할 수 있을 정도로 임의로 지정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수업시간에 다루지 않은 </a:t>
            </a:r>
            <a:r>
              <a:rPr lang="en-US" altLang="ko-KR" dirty="0">
                <a:solidFill>
                  <a:srgbClr val="FF0000"/>
                </a:solidFill>
              </a:rPr>
              <a:t>CSS </a:t>
            </a:r>
            <a:r>
              <a:rPr lang="ko-KR" altLang="en-US" dirty="0">
                <a:solidFill>
                  <a:srgbClr val="FF0000"/>
                </a:solidFill>
              </a:rPr>
              <a:t>속성인 </a:t>
            </a:r>
            <a:r>
              <a:rPr lang="en-US" altLang="ko-KR" dirty="0">
                <a:solidFill>
                  <a:srgbClr val="FF0000"/>
                </a:solidFill>
              </a:rPr>
              <a:t>transition,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transform, translation </a:t>
            </a:r>
            <a:r>
              <a:rPr lang="ko-KR" altLang="en-US" dirty="0">
                <a:solidFill>
                  <a:srgbClr val="FF0000"/>
                </a:solidFill>
              </a:rPr>
              <a:t>등을 활용할 것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6954BC-B24D-00F6-C7E0-78DA6A57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#3 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0956-F6B1-5B8F-E4A7-984A44FC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4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025-04-20 12 29 03">
            <a:hlinkClick r:id="" action="ppaction://media"/>
            <a:extLst>
              <a:ext uri="{FF2B5EF4-FFF2-40B4-BE49-F238E27FC236}">
                <a16:creationId xmlns:a16="http://schemas.microsoft.com/office/drawing/2014/main" id="{AA95C439-F542-C5EE-B6DE-66B50ABC73A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6370" y="484471"/>
            <a:ext cx="8866188" cy="532765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3743EF7F-30DA-E9EF-20F1-A527498B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#3 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41267-B9AD-03C6-989B-6F86FC10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7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4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ED5C4A-23C2-5936-6801-C28A2A2A0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장의 영상과 같이 동작하는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en-US" altLang="ko-KR" dirty="0"/>
              <a:t>&lt;body&gt; </a:t>
            </a:r>
            <a:r>
              <a:rPr lang="ko-KR" altLang="en-US" dirty="0"/>
              <a:t>안의 요소들은 수정 불가</a:t>
            </a:r>
            <a:r>
              <a:rPr lang="en-US" altLang="ko-KR" dirty="0"/>
              <a:t>  (</a:t>
            </a:r>
            <a:r>
              <a:rPr lang="ko-KR" altLang="en-US" dirty="0"/>
              <a:t>스타일만 적용하여 구성할 것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공에 마우스를 가져다 대면 </a:t>
            </a:r>
            <a:r>
              <a:rPr lang="ko-KR" altLang="en-US" dirty="0" err="1"/>
              <a:t>좌상단</a:t>
            </a:r>
            <a:r>
              <a:rPr lang="ko-KR" altLang="en-US" dirty="0"/>
              <a:t> 방향으로 공이 </a:t>
            </a:r>
            <a:r>
              <a:rPr lang="ko-KR" altLang="en-US" dirty="0" err="1"/>
              <a:t>날아감</a:t>
            </a:r>
            <a:endParaRPr lang="en-US" altLang="ko-KR" dirty="0"/>
          </a:p>
          <a:p>
            <a:pPr lvl="2"/>
            <a:r>
              <a:rPr lang="en-US" altLang="ko-KR" dirty="0"/>
              <a:t>0.5</a:t>
            </a:r>
            <a:r>
              <a:rPr lang="ko-KR" altLang="en-US" dirty="0"/>
              <a:t>초의 딜레이 후</a:t>
            </a:r>
            <a:r>
              <a:rPr lang="en-US" altLang="ko-KR" dirty="0"/>
              <a:t>, 3</a:t>
            </a:r>
            <a:r>
              <a:rPr lang="ko-KR" altLang="en-US" dirty="0"/>
              <a:t>초에 걸쳐 이동</a:t>
            </a:r>
            <a:endParaRPr lang="en-US" altLang="ko-KR" dirty="0"/>
          </a:p>
          <a:p>
            <a:pPr lvl="2"/>
            <a:r>
              <a:rPr lang="ko-KR" altLang="en-US" dirty="0"/>
              <a:t>공은 </a:t>
            </a:r>
            <a:r>
              <a:rPr lang="en-US" altLang="ko-KR" dirty="0"/>
              <a:t>2</a:t>
            </a:r>
            <a:r>
              <a:rPr lang="ko-KR" altLang="en-US" dirty="0"/>
              <a:t>바퀴 회전하면서 이동함</a:t>
            </a:r>
            <a:endParaRPr lang="en-US" altLang="ko-KR" dirty="0"/>
          </a:p>
          <a:p>
            <a:pPr lvl="2"/>
            <a:r>
              <a:rPr lang="ko-KR" altLang="en-US" dirty="0"/>
              <a:t>이동하면서 점점 투명하게 흐려짐</a:t>
            </a:r>
            <a:endParaRPr lang="en-US" altLang="ko-KR" dirty="0"/>
          </a:p>
          <a:p>
            <a:pPr lvl="2"/>
            <a:r>
              <a:rPr lang="ko-KR" altLang="en-US" dirty="0"/>
              <a:t>공의 이동 거리는 임의로 설정 </a:t>
            </a:r>
            <a:r>
              <a:rPr lang="en-US" altLang="ko-KR" dirty="0"/>
              <a:t>(</a:t>
            </a:r>
            <a:r>
              <a:rPr lang="ko-KR" altLang="en-US" dirty="0"/>
              <a:t>홈런이면 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수업시간에 다루지 않은 </a:t>
            </a:r>
            <a:r>
              <a:rPr lang="en-US" altLang="ko-KR" dirty="0">
                <a:solidFill>
                  <a:srgbClr val="FF0000"/>
                </a:solidFill>
              </a:rPr>
              <a:t>CSS </a:t>
            </a:r>
            <a:r>
              <a:rPr lang="ko-KR" altLang="en-US" dirty="0">
                <a:solidFill>
                  <a:srgbClr val="FF0000"/>
                </a:solidFill>
              </a:rPr>
              <a:t>속성인 </a:t>
            </a:r>
            <a:r>
              <a:rPr lang="en-US" altLang="ko-KR" dirty="0">
                <a:solidFill>
                  <a:srgbClr val="FF0000"/>
                </a:solidFill>
              </a:rPr>
              <a:t>transition,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transform, translation </a:t>
            </a:r>
            <a:r>
              <a:rPr lang="ko-KR" altLang="en-US" dirty="0">
                <a:solidFill>
                  <a:srgbClr val="FF0000"/>
                </a:solidFill>
              </a:rPr>
              <a:t>등을 활용할 것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3AAB603-B82B-9C64-3520-B7B04187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#4 (35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98703-18BD-EF00-E1ED-D8B34187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5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87FC12B-F82E-AB19-E99E-D2217BD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#4 (35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45CDE-D87A-16BC-2F6A-212A1CFF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2025-04-20 13 35 14">
            <a:hlinkClick r:id="" action="ppaction://media"/>
            <a:extLst>
              <a:ext uri="{FF2B5EF4-FFF2-40B4-BE49-F238E27FC236}">
                <a16:creationId xmlns:a16="http://schemas.microsoft.com/office/drawing/2014/main" id="{4265FFBA-D534-8F4E-784D-CE399F62148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63497" y="1158875"/>
            <a:ext cx="8866593" cy="53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0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Diamond Grid 16x9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000000"/>
      </a:accent1>
      <a:accent2>
        <a:srgbClr val="DF977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087C0F-7449-45C4-B248-63D02665B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0</TotalTime>
  <Words>488</Words>
  <Application>Microsoft Office PowerPoint</Application>
  <PresentationFormat>와이드스크린</PresentationFormat>
  <Paragraphs>78</Paragraphs>
  <Slides>11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Wingdings</vt:lpstr>
      <vt:lpstr>Diamond Grid 16x9</vt:lpstr>
      <vt:lpstr>Web Programming</vt:lpstr>
      <vt:lpstr>Intro</vt:lpstr>
      <vt:lpstr>#0 (15점)</vt:lpstr>
      <vt:lpstr>#0 (15점)</vt:lpstr>
      <vt:lpstr>#1 (10점)</vt:lpstr>
      <vt:lpstr>#2 (25점)</vt:lpstr>
      <vt:lpstr>#2 (25점)</vt:lpstr>
      <vt:lpstr>#3 (15점)</vt:lpstr>
      <vt:lpstr>#3 (15점)</vt:lpstr>
      <vt:lpstr>#4 (35점)</vt:lpstr>
      <vt:lpstr> #4 (35점)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2016-03-20T12:53:11Z</dcterms:created>
  <dcterms:modified xsi:type="dcterms:W3CDTF">2025-04-21T00:08:10Z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TC030310159991</vt:lpwstr>
  </property>
</Properties>
</file>